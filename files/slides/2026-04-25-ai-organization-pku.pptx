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76" r:id="rId7"/>
    <p:sldId id="261" r:id="rId8"/>
    <p:sldId id="262" r:id="rId9"/>
    <p:sldId id="277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31348"/>
    <p:restoredTop sz="94610"/>
  </p:normalViewPr>
  <p:slideViewPr>
    <p:cSldViewPr snapToGrid="0" snapToObjects="1">
      <p:cViewPr>
        <p:scale>
          <a:sx n="198" d="100"/>
          <a:sy n="198" d="100"/>
        </p:scale>
        <p:origin x="-3096" y="-13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603098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274320" cy="36576"/>
          </a:xfrm>
          <a:prstGeom prst="rect">
            <a:avLst/>
          </a:prstGeom>
          <a:solidFill>
            <a:srgbClr val="D9743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82296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D97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奇绩创坛 × 北京大学  ·  创业分享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1874520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0" dirty="0">
                <a:solidFill>
                  <a:srgbClr val="F5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重新发明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457200" y="2926080"/>
            <a:ext cx="10972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0" dirty="0">
                <a:solidFill>
                  <a:srgbClr val="D974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组织。</a:t>
            </a:r>
            <a:endParaRPr lang="en-US" sz="8000" dirty="0"/>
          </a:p>
        </p:txBody>
      </p:sp>
      <p:sp>
        <p:nvSpPr>
          <p:cNvPr id="6" name="Text 4"/>
          <p:cNvSpPr/>
          <p:nvPr/>
        </p:nvSpPr>
        <p:spPr>
          <a:xfrm>
            <a:off x="457200" y="425196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E8A4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原生时代 —— 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457200" y="466344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E8A4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我们正在交付的产品，和还没解的题。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57200" y="5349240"/>
            <a:ext cx="2743200" cy="0"/>
          </a:xfrm>
          <a:prstGeom prst="line">
            <a:avLst/>
          </a:prstGeom>
          <a:noFill/>
          <a:ln w="12700">
            <a:solidFill>
              <a:srgbClr val="D9743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457200" y="553212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李佳芮</a:t>
            </a:r>
            <a:endParaRPr lang="en-US" sz="1600" dirty="0"/>
          </a:p>
          <a:p>
            <a:pPr marL="0" indent="0">
              <a:buNone/>
            </a:pPr>
            <a:r>
              <a:rPr lang="en-US" sz="1200" dirty="0">
                <a:solidFill>
                  <a:srgbClr val="A39E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句子互动 创始人 &amp; CEO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362895" y="594360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kern="0" spc="400" dirty="0">
                <a:solidFill>
                  <a:srgbClr val="D97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228600" cy="36576"/>
          </a:xfrm>
          <a:prstGeom prst="rect">
            <a:avLst/>
          </a:prstGeom>
          <a:solidFill>
            <a:srgbClr val="D9743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777240" y="3657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D97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ME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463040"/>
            <a:ext cx="5943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dirty="0">
                <a:solidFill>
                  <a:srgbClr val="F5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李佳芮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457200" y="2971800"/>
            <a:ext cx="2286000" cy="0"/>
          </a:xfrm>
          <a:prstGeom prst="line">
            <a:avLst/>
          </a:prstGeom>
          <a:noFill/>
          <a:ln w="12700">
            <a:solidFill>
              <a:srgbClr val="D9743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6858000" y="1463040"/>
            <a:ext cx="36576" cy="4572000"/>
          </a:xfrm>
          <a:prstGeom prst="rect">
            <a:avLst/>
          </a:prstGeom>
          <a:solidFill>
            <a:srgbClr val="2A2F3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7132320" y="14630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句子互动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132320" y="1810512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39E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创始人 &amp; CEO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132320" y="221284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Wechaty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132320" y="256032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39E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全球最大对话式 RPA 开源框架 · 联合作者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132320" y="2962656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奇绩创坛  /  Y Combinator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132320" y="3310128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39E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YC 中国 + 全球校友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132320" y="3712464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「福布斯」30 Under 30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132320" y="4059936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39E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华人精英 TOP 100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132320" y="446227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微软 AI MVP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132320" y="4809744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39E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人工智能最具价值专家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132320" y="52120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《Chatbot 从 0 到 1》作者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132320" y="5559552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39E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对话式交互领域中文首本系统专著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6263640"/>
            <a:ext cx="11247120" cy="0"/>
          </a:xfrm>
          <a:prstGeom prst="line">
            <a:avLst/>
          </a:prstGeom>
          <a:noFill/>
          <a:ln w="6350">
            <a:solidFill>
              <a:srgbClr val="2A2F3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ext 22"/>
          <p:cNvSpPr/>
          <p:nvPr/>
        </p:nvSpPr>
        <p:spPr>
          <a:xfrm>
            <a:off x="457200" y="640080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D974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今天要分享的，是这 11 年反复撞过的一堵墙——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A39E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句子互动  ·  JUZIBOT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820095" y="644652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200" dirty="0">
                <a:solidFill>
                  <a:srgbClr val="A39E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22</a:t>
            </a:r>
            <a:endParaRPr lang="en-US" sz="900" dirty="0"/>
          </a:p>
        </p:txBody>
      </p:sp>
      <p:sp>
        <p:nvSpPr>
          <p:cNvPr id="27" name="Rectangle 26"/>
          <p:cNvSpPr/>
          <p:nvPr/>
        </p:nvSpPr>
        <p:spPr>
          <a:xfrm>
            <a:off x="457200" y="2331720"/>
            <a:ext cx="2103120" cy="22860"/>
          </a:xfrm>
          <a:prstGeom prst="rect">
            <a:avLst/>
          </a:prstGeom>
          <a:solidFill>
            <a:srgbClr val="D97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57200" y="2606040"/>
            <a:ext cx="5943600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/>
            <a:r>
              <a:rPr sz="2200" i="1">
                <a:solidFill>
                  <a:srgbClr val="D97438"/>
                </a:solidFill>
                <a:latin typeface="Georgia"/>
                <a:ea typeface="Georgia"/>
                <a:cs typeface="Georgia"/>
              </a:rPr>
              <a:t>一个穿越周期的创业者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3200400"/>
            <a:ext cx="4754880" cy="502920"/>
          </a:xfrm>
          <a:prstGeom prst="rect">
            <a:avLst/>
          </a:prstGeom>
          <a:solidFill>
            <a:srgbClr val="F5E6D3"/>
          </a:solidFill>
          <a:ln w="9525">
            <a:solidFill>
              <a:srgbClr val="D974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94360" y="3291840"/>
            <a:ext cx="448056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/>
            <a:r>
              <a:rPr sz="1600" b="1" i="1">
                <a:solidFill>
                  <a:srgbClr val="D97438"/>
                </a:solidFill>
                <a:latin typeface="Georgia"/>
                <a:ea typeface="Georgia"/>
                <a:cs typeface="Georgia"/>
              </a:rPr>
              <a:t>穿越过「资本」和「AI」的周期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3931920"/>
            <a:ext cx="594360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/>
            <a:r>
              <a:rPr sz="1500">
                <a:solidFill>
                  <a:srgbClr val="A39E92"/>
                </a:solidFill>
                <a:latin typeface="Georgia"/>
                <a:ea typeface="Georgia"/>
                <a:cs typeface="Georgia"/>
              </a:rPr>
              <a:t>11 年  ·  3 家公司  ·  1 个方向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4663440"/>
            <a:ext cx="5943600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/>
            <a:r>
              <a:rPr sz="1300">
                <a:solidFill>
                  <a:srgbClr val="A39E92"/>
                </a:solidFill>
                <a:latin typeface="Georgia"/>
                <a:ea typeface="Georgia"/>
                <a:cs typeface="Georgia"/>
              </a:rPr>
              <a:t>学生创业开始,2026 年还在继续。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5029200"/>
            <a:ext cx="5943600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/>
            <a:r>
              <a:rPr sz="1300">
                <a:solidFill>
                  <a:srgbClr val="A39E92"/>
                </a:solidFill>
                <a:latin typeface="Georgia"/>
                <a:ea typeface="Georgia"/>
                <a:cs typeface="Georgia"/>
              </a:rPr>
              <a:t>踩过 RPA、对话机器人、Agent 的每一个坑。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228600" cy="36576"/>
          </a:xfrm>
          <a:prstGeom prst="rect">
            <a:avLst/>
          </a:prstGeom>
          <a:solidFill>
            <a:srgbClr val="D9743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777240" y="3657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D97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JOURNEY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1A1F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 年 · 3 家公司 · 1 个方向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60020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D974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创业路上永远在变。但有一个变量，从没变过。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31520" y="3063240"/>
            <a:ext cx="10744200" cy="0"/>
          </a:xfrm>
          <a:prstGeom prst="line">
            <a:avLst/>
          </a:prstGeom>
          <a:noFill/>
          <a:ln w="12700">
            <a:solidFill>
              <a:srgbClr val="D9D3C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630936" y="2962656"/>
            <a:ext cx="201168" cy="201168"/>
          </a:xfrm>
          <a:prstGeom prst="ellipse">
            <a:avLst/>
          </a:prstGeom>
          <a:solidFill>
            <a:srgbClr val="1A1F26"/>
          </a:solidFill>
          <a:ln w="25400">
            <a:solidFill>
              <a:srgbClr val="FAF7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0" y="23774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2014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-91440" y="32918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F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学院派写代码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-137160" y="370332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北邮门口民宅里的工作室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421636" y="2962656"/>
            <a:ext cx="201168" cy="201168"/>
          </a:xfrm>
          <a:prstGeom prst="ellipse">
            <a:avLst/>
          </a:prstGeom>
          <a:solidFill>
            <a:srgbClr val="1A1F26"/>
          </a:solidFill>
          <a:ln w="25400">
            <a:solidFill>
              <a:srgbClr val="FAF7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1790700" y="23774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2015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699260" y="32918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F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艾娘子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653540" y="370332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婚庆 O2O · 第一次失败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212336" y="2962656"/>
            <a:ext cx="201168" cy="201168"/>
          </a:xfrm>
          <a:prstGeom prst="ellipse">
            <a:avLst/>
          </a:prstGeom>
          <a:solidFill>
            <a:srgbClr val="1A1F26"/>
          </a:solidFill>
          <a:ln w="25400">
            <a:solidFill>
              <a:srgbClr val="FAF7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3581400" y="23774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2017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489960" y="32918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F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舞哩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444240" y="370332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亿级播放的舞蹈自媒体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003036" y="2962656"/>
            <a:ext cx="201168" cy="201168"/>
          </a:xfrm>
          <a:prstGeom prst="ellipse">
            <a:avLst/>
          </a:prstGeom>
          <a:solidFill>
            <a:srgbClr val="1A1F26"/>
          </a:solidFill>
          <a:ln w="25400">
            <a:solidFill>
              <a:srgbClr val="FAF7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5372100" y="23774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2017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280660" y="32918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F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Wechaty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234940" y="370332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对话式 RPA 开源框架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7793736" y="2962656"/>
            <a:ext cx="201168" cy="201168"/>
          </a:xfrm>
          <a:prstGeom prst="ellipse">
            <a:avLst/>
          </a:prstGeom>
          <a:solidFill>
            <a:srgbClr val="1A1F26"/>
          </a:solidFill>
          <a:ln w="25400">
            <a:solidFill>
              <a:srgbClr val="FAF7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ext 22"/>
          <p:cNvSpPr/>
          <p:nvPr/>
        </p:nvSpPr>
        <p:spPr>
          <a:xfrm>
            <a:off x="7162800" y="23774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2019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071360" y="32918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F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句子互动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025640" y="370332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RPA + IM 自动化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584436" y="2962656"/>
            <a:ext cx="201168" cy="201168"/>
          </a:xfrm>
          <a:prstGeom prst="ellipse">
            <a:avLst/>
          </a:prstGeom>
          <a:solidFill>
            <a:srgbClr val="1A1F26"/>
          </a:solidFill>
          <a:ln w="25400">
            <a:solidFill>
              <a:srgbClr val="FAF7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Text 26"/>
          <p:cNvSpPr/>
          <p:nvPr/>
        </p:nvSpPr>
        <p:spPr>
          <a:xfrm>
            <a:off x="8953500" y="23774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8862060" y="32918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F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GPT × RPA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8816340" y="370332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国内首家 LLM 落地营销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11375136" y="2962656"/>
            <a:ext cx="201168" cy="201168"/>
          </a:xfrm>
          <a:prstGeom prst="ellipse">
            <a:avLst/>
          </a:prstGeom>
          <a:solidFill>
            <a:srgbClr val="D97438"/>
          </a:solidFill>
          <a:ln w="25400">
            <a:solidFill>
              <a:srgbClr val="FAF7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Text 30"/>
          <p:cNvSpPr/>
          <p:nvPr/>
        </p:nvSpPr>
        <p:spPr>
          <a:xfrm>
            <a:off x="10744200" y="23774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D97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10652760" y="32918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974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员工时代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10607040" y="370332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句子秒懂 · IMployee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57200" y="5166360"/>
            <a:ext cx="11247120" cy="0"/>
          </a:xfrm>
          <a:prstGeom prst="line">
            <a:avLst/>
          </a:prstGeom>
          <a:noFill/>
          <a:ln w="12700">
            <a:solidFill>
              <a:srgbClr val="D9743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Text 34"/>
          <p:cNvSpPr/>
          <p:nvPr/>
        </p:nvSpPr>
        <p:spPr>
          <a:xfrm>
            <a:off x="457200" y="534924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1A1F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从智能化，到自动化，再到智能化——</a:t>
            </a:r>
            <a:endParaRPr lang="en-US" sz="1700" dirty="0"/>
          </a:p>
        </p:txBody>
      </p:sp>
      <p:sp>
        <p:nvSpPr>
          <p:cNvPr id="37" name="Text 35"/>
          <p:cNvSpPr/>
          <p:nvPr/>
        </p:nvSpPr>
        <p:spPr>
          <a:xfrm>
            <a:off x="457200" y="576072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D974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我穿越了整个 AI 的周期。</a:t>
            </a:r>
            <a:endParaRPr lang="en-US" sz="2000" dirty="0"/>
          </a:p>
        </p:txBody>
      </p:sp>
      <p:sp>
        <p:nvSpPr>
          <p:cNvPr id="38" name="Text 36"/>
          <p:cNvSpPr/>
          <p:nvPr/>
        </p:nvSpPr>
        <p:spPr>
          <a:xfrm>
            <a:off x="457200" y="63550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6B66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永远在变的是技术与形态。不变的是 IM × 对话式交互 × AI。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句子互动  ·  JUZIBOT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0820095" y="644652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200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22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0"/>
            <a:ext cx="3657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0" i="1" dirty="0">
                <a:solidFill>
                  <a:srgbClr val="D974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0000" dirty="0"/>
          </a:p>
        </p:txBody>
      </p:sp>
      <p:sp>
        <p:nvSpPr>
          <p:cNvPr id="3" name="Shape 1"/>
          <p:cNvSpPr/>
          <p:nvPr/>
        </p:nvSpPr>
        <p:spPr>
          <a:xfrm>
            <a:off x="4114800" y="2926080"/>
            <a:ext cx="0" cy="914400"/>
          </a:xfrm>
          <a:prstGeom prst="line">
            <a:avLst/>
          </a:prstGeom>
          <a:noFill/>
          <a:ln w="12700">
            <a:solidFill>
              <a:srgbClr val="D9743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4480560" y="260604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dirty="0">
                <a:solidFill>
                  <a:srgbClr val="F5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员工时代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4480560" y="33832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rgbClr val="D97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EMPLOYEE ERA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480560" y="3977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A39E9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组织正在被重写。我们做的是这个时代的基础设施。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A39E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句子互动  ·  JUZIBOT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820095" y="644652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200" dirty="0">
                <a:solidFill>
                  <a:srgbClr val="A39E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22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228600" cy="36576"/>
          </a:xfrm>
          <a:prstGeom prst="rect">
            <a:avLst/>
          </a:prstGeom>
          <a:solidFill>
            <a:srgbClr val="D9743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77724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D97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01  ·  AI 员工时代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1A1F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他的工作，和两年前完全不一样了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15544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66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一个客户公司的普通销售，不是销售总监，不是技术极客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2377440"/>
            <a:ext cx="36576" cy="3291840"/>
          </a:xfrm>
          <a:prstGeom prst="rect">
            <a:avLst/>
          </a:prstGeom>
          <a:solidFill>
            <a:srgbClr val="6B666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640080" y="23774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27432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A1F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他在做事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40080" y="3383280"/>
            <a:ext cx="52120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800"/>
              </a:spcAft>
              <a:buNone/>
            </a:pPr>
            <a:r>
              <a:rPr lang="en-US" sz="1300" dirty="0">
                <a:solidFill>
                  <a:srgbClr val="1A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亲自回复 200+ 条客户消息</a:t>
            </a:r>
            <a:endParaRPr lang="en-US" sz="13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300" dirty="0">
                <a:solidFill>
                  <a:srgbClr val="1A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手工整理每日客户跟进记录</a:t>
            </a:r>
            <a:endParaRPr lang="en-US" sz="13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300" dirty="0">
                <a:solidFill>
                  <a:srgbClr val="1A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复制粘贴标准话术到不同群</a:t>
            </a:r>
            <a:endParaRPr lang="en-US" sz="13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300" dirty="0">
                <a:solidFill>
                  <a:srgbClr val="1A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下班后继续处理白天漏掉的消息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583680" y="2377440"/>
            <a:ext cx="36576" cy="3291840"/>
          </a:xfrm>
          <a:prstGeom prst="rect">
            <a:avLst/>
          </a:prstGeom>
          <a:solidFill>
            <a:srgbClr val="D9743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6766560" y="23774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D97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766560" y="27432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A1F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他在带一支 Agent 团队做事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766560" y="3383280"/>
            <a:ext cx="52120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800"/>
              </a:spcAft>
              <a:buNone/>
            </a:pPr>
            <a:r>
              <a:rPr lang="en-US" sz="1300" dirty="0">
                <a:solidFill>
                  <a:srgbClr val="1A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200+ 客户跟进由一组 Agent 并行处理</a:t>
            </a:r>
            <a:endParaRPr lang="en-US" sz="13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300" dirty="0">
                <a:solidFill>
                  <a:srgbClr val="1A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他只处理被路由出来的低置信度对话</a:t>
            </a:r>
            <a:endParaRPr lang="en-US" sz="13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300" dirty="0">
                <a:solidFill>
                  <a:srgbClr val="1A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新话术训练一次，整个 Agent 集群当天生效</a:t>
            </a:r>
            <a:endParaRPr lang="en-US" sz="13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300" dirty="0">
                <a:solidFill>
                  <a:srgbClr val="1A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下班前半小时，看一遍当天 Agent 的交付报告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5943600"/>
            <a:ext cx="11247120" cy="0"/>
          </a:xfrm>
          <a:prstGeom prst="line">
            <a:avLst/>
          </a:prstGeom>
          <a:noFill/>
          <a:ln w="12700">
            <a:solidFill>
              <a:srgbClr val="D9D3C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457200" y="603504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D974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「这不是 AI 工具。是管理权的重新分配。」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句子互动  ·  JUZIBOT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0820095" y="644652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200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22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502920"/>
            <a:ext cx="228600" cy="36576"/>
          </a:xfrm>
          <a:prstGeom prst="rect">
            <a:avLst/>
          </a:prstGeom>
          <a:solidFill>
            <a:srgbClr val="D97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77240" y="36576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sz="1000" b="1">
                <a:solidFill>
                  <a:srgbClr val="D97438"/>
                </a:solidFill>
                <a:latin typeface="Calibri"/>
                <a:ea typeface="Calibri"/>
                <a:cs typeface="Calibri"/>
              </a:rPr>
              <a:t>PART 01  ·  AI 员工时代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124712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sz="3200">
                <a:solidFill>
                  <a:srgbClr val="1A1F26"/>
                </a:solidFill>
                <a:latin typeface="Georgia"/>
                <a:ea typeface="Georgia"/>
                <a:cs typeface="Georgia"/>
              </a:rPr>
              <a:t>一个普通销售的一天，长这样。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72768"/>
            <a:ext cx="112471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sz="1500" i="1">
                <a:solidFill>
                  <a:srgbClr val="6B6660"/>
                </a:solidFill>
                <a:latin typeface="Georgia"/>
                <a:ea typeface="Georgia"/>
                <a:cs typeface="Georgia"/>
              </a:rPr>
              <a:t>上一页说的场景——就是它在我们产品里的样子。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70432" y="596188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sz="1100" i="1">
                <a:solidFill>
                  <a:srgbClr val="6B6660"/>
                </a:solidFill>
                <a:latin typeface="Calibri"/>
                <a:ea typeface="Calibri"/>
                <a:cs typeface="Calibri"/>
              </a:rPr>
              <a:t>桌面 · Agent 协作工作台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0" y="5961888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sz="1100" i="1">
                <a:solidFill>
                  <a:srgbClr val="6B6660"/>
                </a:solidFill>
                <a:latin typeface="Calibri"/>
                <a:ea typeface="Calibri"/>
                <a:cs typeface="Calibri"/>
              </a:rPr>
              <a:t>工作台 ·「今日交付报告」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828800" y="6190488"/>
            <a:ext cx="8531352" cy="438912"/>
          </a:xfrm>
          <a:prstGeom prst="rect">
            <a:avLst/>
          </a:prstGeom>
          <a:solidFill>
            <a:srgbClr val="F5E6D3"/>
          </a:solidFill>
          <a:ln w="9525">
            <a:solidFill>
              <a:srgbClr val="D974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" y="6263640"/>
            <a:ext cx="112471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sz="1400" b="1" i="1">
                <a:solidFill>
                  <a:srgbClr val="D97438"/>
                </a:solidFill>
                <a:latin typeface="Georgia"/>
                <a:ea typeface="Georgia"/>
                <a:cs typeface="Georgia"/>
              </a:rPr>
              <a:t>「这不是 demo，也不是设想——是每天都在发生的事。」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sz="900" b="1">
                <a:solidFill>
                  <a:srgbClr val="6B6660"/>
                </a:solidFill>
                <a:latin typeface="Calibri"/>
                <a:ea typeface="Calibri"/>
                <a:cs typeface="Calibri"/>
              </a:rPr>
              <a:t>句子互动  ·  JUZIBOT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817352" y="6446520"/>
            <a:ext cx="10058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r"/>
            <a:r>
              <a:rPr sz="900">
                <a:solidFill>
                  <a:srgbClr val="6B6660"/>
                </a:solidFill>
                <a:latin typeface="Calibri"/>
                <a:ea typeface="Calibri"/>
                <a:cs typeface="Calibri"/>
              </a:rPr>
              <a:t>06 / 22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887966" y="2093976"/>
            <a:ext cx="2353227" cy="3877056"/>
          </a:xfrm>
          <a:prstGeom prst="rect">
            <a:avLst/>
          </a:prstGeom>
          <a:noFill/>
          <a:ln w="25400">
            <a:solidFill>
              <a:srgbClr val="D974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503920" y="3840480"/>
            <a:ext cx="41148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/>
            <a:r>
              <a:rPr sz="1800" b="1">
                <a:solidFill>
                  <a:srgbClr val="D97438"/>
                </a:solidFill>
                <a:latin typeface="Calibri"/>
                <a:ea typeface="Calibri"/>
                <a:cs typeface="Calibri"/>
              </a:rPr>
              <a:t>→</a:t>
            </a:r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B7F8ADF9-0968-5BD5-6E63-C2B640B2E0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806" y="2011680"/>
            <a:ext cx="7591959" cy="3922776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ECE95B9D-C675-48E3-182D-10A72C42D9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0527" y="2203704"/>
            <a:ext cx="2195746" cy="368158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228600" cy="36576"/>
          </a:xfrm>
          <a:prstGeom prst="rect">
            <a:avLst/>
          </a:prstGeom>
          <a:solidFill>
            <a:srgbClr val="D9743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77724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D97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01  ·  AI 员工时代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i="1" dirty="0">
                <a:solidFill>
                  <a:srgbClr val="6B66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我们做的不是 AI 工具，不是 Copilot。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1463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1A1F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是在重新定义「员工」这件事。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457200" y="2560320"/>
            <a:ext cx="11247120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3C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457200" y="2560320"/>
            <a:ext cx="73152" cy="1143000"/>
          </a:xfrm>
          <a:prstGeom prst="rect">
            <a:avLst/>
          </a:prstGeom>
          <a:solidFill>
            <a:srgbClr val="D9743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777240" y="274320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i="1" dirty="0">
                <a:solidFill>
                  <a:srgbClr val="D974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828800" y="269748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F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交付结果，不是输出 token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828800" y="306324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客户买的不是一个能对话的模型。是完成任务的结果——订单、满意度、转化率。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3840480"/>
            <a:ext cx="11247120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3C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457200" y="3840480"/>
            <a:ext cx="73152" cy="1143000"/>
          </a:xfrm>
          <a:prstGeom prst="rect">
            <a:avLst/>
          </a:prstGeom>
          <a:solidFill>
            <a:srgbClr val="D9743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777240" y="402336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i="1" dirty="0">
                <a:solidFill>
                  <a:srgbClr val="D974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828800" y="397764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F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按底薪 + 提成收费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828800" y="434340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不再按 API 调用次数、不再按席位数。像真实员工一样，有基础工资，有业绩提成。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5120640"/>
            <a:ext cx="11247120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3C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Shape 15"/>
          <p:cNvSpPr/>
          <p:nvPr/>
        </p:nvSpPr>
        <p:spPr>
          <a:xfrm>
            <a:off x="457200" y="5120640"/>
            <a:ext cx="73152" cy="1143000"/>
          </a:xfrm>
          <a:prstGeom prst="rect">
            <a:avLst/>
          </a:prstGeom>
          <a:solidFill>
            <a:srgbClr val="D9743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777240" y="53035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i="1" dirty="0">
                <a:solidFill>
                  <a:srgbClr val="D974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828800" y="525780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F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重塑 SaaS 的收费模式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828800" y="562356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SaaS 卖工具，按人头收费；AI 员工卖结果，按交付收费。整个商业逻辑在被改写。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句子互动  ·  JUZIBOT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820095" y="644652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200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22</a:t>
            </a:r>
            <a:endParaRPr lang="en-US" sz="900" dirty="0"/>
          </a:p>
        </p:txBody>
      </p:sp>
      <p:sp>
        <p:nvSpPr>
          <p:cNvPr id="23" name="TextBox 22"/>
          <p:cNvSpPr txBox="1"/>
          <p:nvPr/>
        </p:nvSpPr>
        <p:spPr>
          <a:xfrm>
            <a:off x="457200" y="2194560"/>
            <a:ext cx="1124712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/>
            <a:r>
              <a:rPr sz="1400" b="0" i="1">
                <a:solidFill>
                  <a:srgbClr val="D97438"/>
                </a:solidFill>
                <a:latin typeface="Georgia"/>
                <a:ea typeface="Georgia"/>
                <a:cs typeface="Georgia"/>
              </a:rPr>
              <a:t>—— 交付、付薪、收费模式,这三件事,我们都在重写。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228600" cy="36576"/>
          </a:xfrm>
          <a:prstGeom prst="rect">
            <a:avLst/>
          </a:prstGeom>
          <a:solidFill>
            <a:srgbClr val="D9743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77724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D97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01  ·  AI 员工时代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F5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原生组织，长什么样？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60020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D974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不是「用了 AI 的公司」。是组织结构本身被重写的公司。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2331720"/>
            <a:ext cx="11247120" cy="1188720"/>
          </a:xfrm>
          <a:prstGeom prst="rect">
            <a:avLst/>
          </a:prstGeom>
          <a:solidFill>
            <a:srgbClr val="1A1F26"/>
          </a:solidFill>
          <a:ln w="6350">
            <a:solidFill>
              <a:srgbClr val="2A2F3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457200" y="2331720"/>
            <a:ext cx="73152" cy="1188720"/>
          </a:xfrm>
          <a:prstGeom prst="rect">
            <a:avLst/>
          </a:prstGeom>
          <a:solidFill>
            <a:srgbClr val="D9743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777240" y="24688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D97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层 01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77240" y="27432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5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组织单元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108960" y="26517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A39E9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人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669280" y="2651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D97438"/>
                </a:solidFill>
              </a:rPr>
              <a:t>→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6126480" y="26517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974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人 + Agent 队伍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77240" y="3154680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39E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工作的基本单位不再是个体。而是一个普通人和他调度的一队 Agent 的混合体。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611880"/>
            <a:ext cx="11247120" cy="1188720"/>
          </a:xfrm>
          <a:prstGeom prst="rect">
            <a:avLst/>
          </a:prstGeom>
          <a:solidFill>
            <a:srgbClr val="1A1F26"/>
          </a:solidFill>
          <a:ln w="6350">
            <a:solidFill>
              <a:srgbClr val="2A2F3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Shape 13"/>
          <p:cNvSpPr/>
          <p:nvPr/>
        </p:nvSpPr>
        <p:spPr>
          <a:xfrm>
            <a:off x="457200" y="3611880"/>
            <a:ext cx="73152" cy="1188720"/>
          </a:xfrm>
          <a:prstGeom prst="rect">
            <a:avLst/>
          </a:prstGeom>
          <a:solidFill>
            <a:srgbClr val="D9743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777240" y="37490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D97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层 02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77240" y="402336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5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能力杠杆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3108960" y="393192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A39E9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雇更多的人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669280" y="3931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D97438"/>
                </a:solidFill>
              </a:rPr>
              <a:t>→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6126480" y="39319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974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一个人带一支队伍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77240" y="4434840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39E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过去要扩大产能，必须招更多人。现在每个普通员工都能带 5-10 个 Agent 下属。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4892040"/>
            <a:ext cx="11247120" cy="1188720"/>
          </a:xfrm>
          <a:prstGeom prst="rect">
            <a:avLst/>
          </a:prstGeom>
          <a:solidFill>
            <a:srgbClr val="1A1F26"/>
          </a:solidFill>
          <a:ln w="6350">
            <a:solidFill>
              <a:srgbClr val="2A2F3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Shape 21"/>
          <p:cNvSpPr/>
          <p:nvPr/>
        </p:nvSpPr>
        <p:spPr>
          <a:xfrm>
            <a:off x="457200" y="4892040"/>
            <a:ext cx="73152" cy="1188720"/>
          </a:xfrm>
          <a:prstGeom prst="rect">
            <a:avLst/>
          </a:prstGeom>
          <a:solidFill>
            <a:srgbClr val="D9743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4" name="Text 22"/>
          <p:cNvSpPr/>
          <p:nvPr/>
        </p:nvSpPr>
        <p:spPr>
          <a:xfrm>
            <a:off x="777240" y="50292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D97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层 03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77240" y="53035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5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管理权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3108960" y="52120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A39E9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只有 CEO 带人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669280" y="5212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D97438"/>
                </a:solidFill>
              </a:rPr>
              <a:t>→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6126480" y="52120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974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每个人都是管理者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777240" y="5715000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39E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过去只有少数人有管理下属的经验。现在每个普通员工每天都在调度、分配、review。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57200" y="6172200"/>
            <a:ext cx="11247120" cy="0"/>
          </a:xfrm>
          <a:prstGeom prst="line">
            <a:avLst/>
          </a:prstGeom>
          <a:noFill/>
          <a:ln w="12700">
            <a:solidFill>
              <a:srgbClr val="D9743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Text 30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A39E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句子互动  ·  JUZIBOT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0820095" y="644652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200" dirty="0">
                <a:solidFill>
                  <a:srgbClr val="A39E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22</a:t>
            </a:r>
            <a:endParaRPr lang="en-US" sz="900" dirty="0"/>
          </a:p>
        </p:txBody>
      </p:sp>
      <p:sp>
        <p:nvSpPr>
          <p:cNvPr id="34" name="TextBox 33"/>
          <p:cNvSpPr txBox="1"/>
          <p:nvPr/>
        </p:nvSpPr>
        <p:spPr>
          <a:xfrm>
            <a:off x="457200" y="2011680"/>
            <a:ext cx="11247120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/>
            <a:r>
              <a:rPr sz="1500" i="1">
                <a:solidFill>
                  <a:srgbClr val="D97438"/>
                </a:solidFill>
                <a:latin typeface="Georgia"/>
                <a:ea typeface="Georgia"/>
                <a:cs typeface="Georgia"/>
              </a:rPr>
              <a:t>—— 工具,让一个人更强。组织单元,让一个普通人能带一支队伍。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502920"/>
            <a:ext cx="228600" cy="36576"/>
          </a:xfrm>
          <a:prstGeom prst="rect">
            <a:avLst/>
          </a:prstGeom>
          <a:solidFill>
            <a:srgbClr val="D97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77240" y="36576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sz="1000" b="1">
                <a:solidFill>
                  <a:srgbClr val="D97438"/>
                </a:solidFill>
                <a:latin typeface="Calibri"/>
                <a:ea typeface="Calibri"/>
                <a:cs typeface="Calibri"/>
              </a:rPr>
              <a:t>PART 01  ·  AI 员工时代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sz="2400">
                <a:solidFill>
                  <a:srgbClr val="1A1F26"/>
                </a:solidFill>
                <a:latin typeface="Georgia"/>
                <a:ea typeface="Georgia"/>
                <a:cs typeface="Georgia"/>
              </a:rPr>
              <a:t>上千家企业,开始用我们的 AI 员工 —— 都从 AI 销售开始。</a:t>
            </a:r>
          </a:p>
        </p:txBody>
      </p:sp>
      <p:pic>
        <p:nvPicPr>
          <p:cNvPr id="5" name="Picture 4" descr="1777062242776_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8236" y="1645920"/>
            <a:ext cx="8412480" cy="457199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sz="900" b="1">
                <a:solidFill>
                  <a:srgbClr val="6B6660"/>
                </a:solidFill>
                <a:latin typeface="Calibri"/>
                <a:ea typeface="Calibri"/>
                <a:cs typeface="Calibri"/>
              </a:rPr>
              <a:t>句子互动  ·  JUZIBOT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17352" y="6446520"/>
            <a:ext cx="10058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r"/>
            <a:r>
              <a:rPr sz="900">
                <a:solidFill>
                  <a:srgbClr val="6B6660"/>
                </a:solidFill>
                <a:latin typeface="Calibri"/>
                <a:ea typeface="Calibri"/>
                <a:cs typeface="Calibri"/>
              </a:rPr>
              <a:t>09 / 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417320"/>
            <a:ext cx="1124712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/>
            <a:r>
              <a:rPr sz="1400" i="1">
                <a:solidFill>
                  <a:srgbClr val="D97438"/>
                </a:solidFill>
                <a:latin typeface="Georgia"/>
                <a:ea typeface="Georgia"/>
                <a:cs typeface="Georgia"/>
              </a:rPr>
              <a:t>—— 每一个,都将逐步长成一个 AI 原生组织。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228600" cy="36576"/>
          </a:xfrm>
          <a:prstGeom prst="rect">
            <a:avLst/>
          </a:prstGeom>
          <a:solidFill>
            <a:srgbClr val="D9743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77724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D97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01  ·  AI 员工时代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1A1F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从第一个 AI 员工，到一整个 AI 原生组织。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64592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D974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——  这是我们正在做的事。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2514600"/>
            <a:ext cx="3566160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D9743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457200" y="2514600"/>
            <a:ext cx="3566160" cy="54864"/>
          </a:xfrm>
          <a:prstGeom prst="rect">
            <a:avLst/>
          </a:prstGeom>
          <a:solidFill>
            <a:srgbClr val="D9743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731520" y="24688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i="1" dirty="0">
                <a:solidFill>
                  <a:srgbClr val="D974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731520" y="297180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F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一个 AI 员工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31520" y="338328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2D6A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销售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31520" y="36576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最痛、最高频的场景先跑通。客户用一个 Agent 交付真实业绩。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041648" y="301752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D97438"/>
                </a:solidFill>
              </a:rPr>
              <a:t>→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215384" y="2514600"/>
            <a:ext cx="3566160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D9743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4215384" y="2514600"/>
            <a:ext cx="3566160" cy="54864"/>
          </a:xfrm>
          <a:prstGeom prst="rect">
            <a:avLst/>
          </a:prstGeom>
          <a:solidFill>
            <a:srgbClr val="D9743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4489704" y="24688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i="1" dirty="0">
                <a:solidFill>
                  <a:srgbClr val="D974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4489704" y="297180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F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一支 AI 员工队伍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489704" y="338328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2D6A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销售 × 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489704" y="36576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从销售到客服、售后、营销——Agent 从单兵作战变成协同团队。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7799832" y="301752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D97438"/>
                </a:solidFill>
              </a:rPr>
              <a:t>→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7973568" y="2514600"/>
            <a:ext cx="3566160" cy="1920240"/>
          </a:xfrm>
          <a:prstGeom prst="rect">
            <a:avLst/>
          </a:prstGeom>
          <a:solidFill>
            <a:srgbClr val="0F1419"/>
          </a:solidFill>
          <a:ln w="12700">
            <a:solidFill>
              <a:srgbClr val="D9743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Shape 19"/>
          <p:cNvSpPr/>
          <p:nvPr/>
        </p:nvSpPr>
        <p:spPr>
          <a:xfrm>
            <a:off x="7973568" y="2514600"/>
            <a:ext cx="3566160" cy="54864"/>
          </a:xfrm>
          <a:prstGeom prst="rect">
            <a:avLst/>
          </a:prstGeom>
          <a:solidFill>
            <a:srgbClr val="D9743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8247888" y="24688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i="1" dirty="0">
                <a:solidFill>
                  <a:srgbClr val="D974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8247888" y="297180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5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原生组织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8247888" y="338328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D974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组织结构的重写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247888" y="36576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39E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每个员工都带着 AI 队伍工作。组织基本单位从「人」变成「人+Agent」。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57200" y="438912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97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底座：两个产品引擎，贯穿整条路径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57200" y="4709160"/>
            <a:ext cx="553212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D9D3C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Text 26"/>
          <p:cNvSpPr/>
          <p:nvPr/>
        </p:nvSpPr>
        <p:spPr>
          <a:xfrm>
            <a:off x="685800" y="48463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F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句子秒回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2743200" y="487375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2D6A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员工的「工位」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85800" y="5212080"/>
            <a:ext cx="5074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打通微信生态、抖音、小红书</a:t>
            </a:r>
            <a:r>
              <a:rPr lang="zh-CN" altLang="en-US" sz="1050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、</a:t>
            </a:r>
            <a:r>
              <a:rPr lang="en-US" sz="1050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飞书 等 IM 通道，让 Agent 能和真实客户实时交互。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6172200" y="4709160"/>
            <a:ext cx="553212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D9D3C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Text 30"/>
          <p:cNvSpPr/>
          <p:nvPr/>
        </p:nvSpPr>
        <p:spPr>
          <a:xfrm>
            <a:off x="6400800" y="48463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F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句子秒懂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8458200" y="487375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2D6A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员工的「大脑」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400800" y="5212080"/>
            <a:ext cx="5074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workflow 引擎。把企业流程、规则、知识训练进一个能真正上岗的 Agent。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457200" y="566928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i="1" dirty="0">
                <a:solidFill>
                  <a:srgbClr val="D974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「让客户组织慢慢变得 AI 原生——我们自己也在变成这样的样本。」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句子互动  ·  JUZIBOT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0820095" y="644652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200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22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0"/>
            <a:ext cx="3657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0" i="1" dirty="0">
                <a:solidFill>
                  <a:srgbClr val="D974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0000" dirty="0"/>
          </a:p>
        </p:txBody>
      </p:sp>
      <p:sp>
        <p:nvSpPr>
          <p:cNvPr id="3" name="Shape 1"/>
          <p:cNvSpPr/>
          <p:nvPr/>
        </p:nvSpPr>
        <p:spPr>
          <a:xfrm>
            <a:off x="4114800" y="2926080"/>
            <a:ext cx="0" cy="914400"/>
          </a:xfrm>
          <a:prstGeom prst="line">
            <a:avLst/>
          </a:prstGeom>
          <a:noFill/>
          <a:ln w="12700">
            <a:solidFill>
              <a:srgbClr val="D9743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4480560" y="260604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dirty="0">
                <a:solidFill>
                  <a:srgbClr val="F5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关于 PMF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4480560" y="33832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rgbClr val="D97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MARKET FIT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480560" y="3977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A39E9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对想创业的人,我最想说的一件事。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A39E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句子互动  ·  JUZIBOT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820095" y="644652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200" dirty="0">
                <a:solidFill>
                  <a:srgbClr val="A39E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22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228600" cy="36576"/>
          </a:xfrm>
          <a:prstGeom prst="rect">
            <a:avLst/>
          </a:prstGeom>
          <a:solidFill>
            <a:srgbClr val="D9743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77724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D97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02  ·  关于 PMF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1A1F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PMF  =  Product Market Fit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16459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D974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验证产品符合市场需求，是 0 到 1 阶段唯一重要的事。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2468880"/>
            <a:ext cx="548640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743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457200" y="2468880"/>
            <a:ext cx="5486400" cy="54864"/>
          </a:xfrm>
          <a:prstGeom prst="rect">
            <a:avLst/>
          </a:prstGeom>
          <a:solidFill>
            <a:srgbClr val="D9743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731520" y="2743200"/>
            <a:ext cx="4937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F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PMF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731520" y="33375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2D6A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产品是否符合市场需求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31520" y="3794760"/>
            <a:ext cx="4937760" cy="0"/>
          </a:xfrm>
          <a:prstGeom prst="line">
            <a:avLst/>
          </a:prstGeom>
          <a:noFill/>
          <a:ln w="6350">
            <a:solidFill>
              <a:srgbClr val="D9D3C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731520" y="3931920"/>
            <a:ext cx="49377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A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很多公司死在没找到 PMF。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A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YC 花最大精力，教 founders 找 PMF——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A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你的产品是否真的符合市场需求。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17920" y="2468880"/>
            <a:ext cx="5486400" cy="3108960"/>
          </a:xfrm>
          <a:prstGeom prst="rect">
            <a:avLst/>
          </a:prstGeom>
          <a:solidFill>
            <a:srgbClr val="FFFFFF"/>
          </a:solidFill>
          <a:ln w="6350">
            <a:solidFill>
              <a:srgbClr val="D9D3C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6492240" y="2743200"/>
            <a:ext cx="4937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6B66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GTM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6492240" y="33375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66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产品如何规模化进入市场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492240" y="3794760"/>
            <a:ext cx="4937760" cy="0"/>
          </a:xfrm>
          <a:prstGeom prst="line">
            <a:avLst/>
          </a:prstGeom>
          <a:noFill/>
          <a:ln w="6350">
            <a:solidFill>
              <a:srgbClr val="D9D3C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6492240" y="3931920"/>
            <a:ext cx="49377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找到 PMF 之后的下一步。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配合营销和销售策略，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把产品推向市场实现规模化。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句子互动  ·  JUZIBOT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820095" y="644652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200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22</a:t>
            </a:r>
            <a:endParaRPr lang="en-US" sz="900" dirty="0"/>
          </a:p>
        </p:txBody>
      </p:sp>
      <p:sp>
        <p:nvSpPr>
          <p:cNvPr id="20" name="TextBox 19"/>
          <p:cNvSpPr txBox="1"/>
          <p:nvPr/>
        </p:nvSpPr>
        <p:spPr>
          <a:xfrm>
            <a:off x="457200" y="2103120"/>
            <a:ext cx="1124712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/>
            <a:r>
              <a:rPr sz="1600" i="1">
                <a:solidFill>
                  <a:srgbClr val="D97438"/>
                </a:solidFill>
                <a:latin typeface="Georgia"/>
                <a:ea typeface="Georgia"/>
                <a:cs typeface="Georgia"/>
              </a:rPr>
              <a:t>—— 今天只讲 PMF。因为 99% 的学生创业,都死在 PMF 之前。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228600" cy="36576"/>
          </a:xfrm>
          <a:prstGeom prst="rect">
            <a:avLst/>
          </a:prstGeom>
          <a:solidFill>
            <a:srgbClr val="D9743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77724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D97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02  ·  关于 PMF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1A1F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具体的 PMF  =  最小完整闭环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60020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66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不要小看「完整」这两个字——整个业务流必须无障碍跑通。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2468880"/>
            <a:ext cx="5486400" cy="3108960"/>
          </a:xfrm>
          <a:prstGeom prst="rect">
            <a:avLst/>
          </a:prstGeom>
          <a:solidFill>
            <a:srgbClr val="FFFFFF"/>
          </a:solidFill>
          <a:ln w="9525">
            <a:solidFill>
              <a:srgbClr val="D9743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457200" y="2468880"/>
            <a:ext cx="5486400" cy="54864"/>
          </a:xfrm>
          <a:prstGeom prst="rect">
            <a:avLst/>
          </a:prstGeom>
          <a:solidFill>
            <a:srgbClr val="D9743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731520" y="26974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D97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C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301752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F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是痛点问题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731520" y="3611880"/>
            <a:ext cx="4937760" cy="0"/>
          </a:xfrm>
          <a:prstGeom prst="line">
            <a:avLst/>
          </a:prstGeom>
          <a:noFill/>
          <a:ln w="6350">
            <a:solidFill>
              <a:srgbClr val="D9D3C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731520" y="379476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F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增长 = 惊叹感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31520" y="41148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产品一用就让人「wow」，愿意主动告诉朋友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31520" y="457200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F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留存 = 真的有用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31520" y="48920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惊叹感之后还留得下，说明真的解决了问题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31520" y="512064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D974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 C 最难的是找到那个让人惊叹的痛点。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217920" y="2468880"/>
            <a:ext cx="5486400" cy="3108960"/>
          </a:xfrm>
          <a:prstGeom prst="rect">
            <a:avLst/>
          </a:prstGeom>
          <a:solidFill>
            <a:srgbClr val="FFFFFF"/>
          </a:solidFill>
          <a:ln w="9525">
            <a:solidFill>
              <a:srgbClr val="D9743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Shape 15"/>
          <p:cNvSpPr/>
          <p:nvPr/>
        </p:nvSpPr>
        <p:spPr>
          <a:xfrm>
            <a:off x="6217920" y="2468880"/>
            <a:ext cx="5486400" cy="54864"/>
          </a:xfrm>
          <a:prstGeom prst="rect">
            <a:avLst/>
          </a:prstGeom>
          <a:solidFill>
            <a:srgbClr val="D9743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6492240" y="26974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D97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B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92240" y="301752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F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是完整跑通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6492240" y="3611880"/>
            <a:ext cx="4937760" cy="0"/>
          </a:xfrm>
          <a:prstGeom prst="line">
            <a:avLst/>
          </a:prstGeom>
          <a:noFill/>
          <a:ln w="6350">
            <a:solidFill>
              <a:srgbClr val="D9D3C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6492240" y="379476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F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业务闭环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492240" y="41148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从获客、交付、收款、续约，整个链路都要能跑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492240" y="457200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F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可复制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492240" y="48920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第一个客户成功的路径，能在第二个客户身上复现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492240" y="512064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D974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 B 最难的是让每一环都不掉链子。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句子互动  ·  JUZIBOT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820095" y="644652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200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22</a:t>
            </a:r>
            <a:endParaRPr lang="en-US" sz="900" dirty="0"/>
          </a:p>
        </p:txBody>
      </p:sp>
      <p:sp>
        <p:nvSpPr>
          <p:cNvPr id="29" name="TextBox 28"/>
          <p:cNvSpPr txBox="1"/>
          <p:nvPr/>
        </p:nvSpPr>
        <p:spPr>
          <a:xfrm>
            <a:off x="457200" y="2057400"/>
            <a:ext cx="1124712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/>
            <a:r>
              <a:rPr sz="1500" i="1">
                <a:solidFill>
                  <a:srgbClr val="D97438"/>
                </a:solidFill>
                <a:latin typeface="Georgia"/>
                <a:ea typeface="Georgia"/>
                <a:cs typeface="Georgia"/>
              </a:rPr>
              <a:t>—— 找最小闭环最好的方式:放低姿态,一秒变小白,做用户访谈。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228600" cy="36576"/>
          </a:xfrm>
          <a:prstGeom prst="rect">
            <a:avLst/>
          </a:prstGeom>
          <a:solidFill>
            <a:srgbClr val="D9743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77724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D97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02  ·  关于 PMF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i="1" dirty="0">
                <a:solidFill>
                  <a:srgbClr val="A39E9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学生创业最大的误区——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15087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F5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期待「特别炫酷」，然后死在「特别炫酷」。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2743200"/>
            <a:ext cx="11247120" cy="621792"/>
          </a:xfrm>
          <a:prstGeom prst="rect">
            <a:avLst/>
          </a:prstGeom>
          <a:solidFill>
            <a:srgbClr val="D97438"/>
          </a:solidFill>
          <a:ln w="6350">
            <a:solidFill>
              <a:srgbClr val="2A2F3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731520" y="283464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0F14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83464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14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先有用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114800" y="2834640"/>
            <a:ext cx="7406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F1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先解决真问题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3474720"/>
            <a:ext cx="9278874" cy="621792"/>
          </a:xfrm>
          <a:prstGeom prst="rect">
            <a:avLst/>
          </a:prstGeom>
          <a:solidFill>
            <a:srgbClr val="1A1F26"/>
          </a:solidFill>
          <a:ln w="6350">
            <a:solidFill>
              <a:srgbClr val="2A2F3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731520" y="356616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D974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554480" y="356616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5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再高效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114800" y="3566160"/>
            <a:ext cx="543839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39E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解决得比别人快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4206240"/>
            <a:ext cx="7591806" cy="621792"/>
          </a:xfrm>
          <a:prstGeom prst="rect">
            <a:avLst/>
          </a:prstGeom>
          <a:solidFill>
            <a:srgbClr val="1A1F26"/>
          </a:solidFill>
          <a:ln w="6350">
            <a:solidFill>
              <a:srgbClr val="2A2F3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731520" y="429768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D974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554480" y="42976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5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然后易用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4114800" y="4297680"/>
            <a:ext cx="375132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39E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让用户无痛使用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" y="4937760"/>
            <a:ext cx="5904738" cy="621792"/>
          </a:xfrm>
          <a:prstGeom prst="rect">
            <a:avLst/>
          </a:prstGeom>
          <a:solidFill>
            <a:srgbClr val="1A1F26"/>
          </a:solidFill>
          <a:ln w="6350">
            <a:solidFill>
              <a:srgbClr val="2A2F3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731520" y="502920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D974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554480" y="502920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5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最后好看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4114800" y="5029200"/>
            <a:ext cx="20642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39E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才轮到美感与品牌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57200" y="5989320"/>
            <a:ext cx="11247120" cy="0"/>
          </a:xfrm>
          <a:prstGeom prst="line">
            <a:avLst/>
          </a:prstGeom>
          <a:noFill/>
          <a:ln w="12700">
            <a:solidFill>
              <a:srgbClr val="D9743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ext 22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A39E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句子互动  ·  JUZIBOT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0820095" y="644652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200" dirty="0">
                <a:solidFill>
                  <a:srgbClr val="A39E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22</a:t>
            </a:r>
            <a:endParaRPr lang="en-US" sz="900" dirty="0"/>
          </a:p>
        </p:txBody>
      </p:sp>
      <p:sp>
        <p:nvSpPr>
          <p:cNvPr id="26" name="TextBox 25"/>
          <p:cNvSpPr txBox="1"/>
          <p:nvPr/>
        </p:nvSpPr>
        <p:spPr>
          <a:xfrm>
            <a:off x="457200" y="2286000"/>
            <a:ext cx="1124712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/>
            <a:r>
              <a:rPr sz="1600" i="1">
                <a:solidFill>
                  <a:srgbClr val="D97438"/>
                </a:solidFill>
                <a:latin typeface="Georgia"/>
                <a:ea typeface="Georgia"/>
                <a:cs typeface="Georgia"/>
              </a:rPr>
              <a:t>—— 实现功能,远远比炫酷的技术重要。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228600" cy="36576"/>
          </a:xfrm>
          <a:prstGeom prst="rect">
            <a:avLst/>
          </a:prstGeom>
          <a:solidFill>
            <a:srgbClr val="D9743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77724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D97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02  ·  关于 PMF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1A1F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别以为自己真的找到了 PMF！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169164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66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PMF 迷惑陷阱——这是 11 年来我跌倒过最多次的地方。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23317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97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PMF 阶段性完成的六个判据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834640"/>
            <a:ext cx="182880" cy="182880"/>
          </a:xfrm>
          <a:prstGeom prst="ellipse">
            <a:avLst/>
          </a:prstGeom>
          <a:solidFill>
            <a:srgbClr val="D9743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548640" y="283464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F1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68680" y="278892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至少有一个明确被验证过的客户需求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172200" y="2834640"/>
            <a:ext cx="182880" cy="182880"/>
          </a:xfrm>
          <a:prstGeom prst="ellipse">
            <a:avLst/>
          </a:prstGeom>
          <a:solidFill>
            <a:srgbClr val="D9743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6172200" y="283464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F1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492240" y="278892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至少有一个典型客户的明确画像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3218688"/>
            <a:ext cx="182880" cy="182880"/>
          </a:xfrm>
          <a:prstGeom prst="ellipse">
            <a:avLst/>
          </a:prstGeom>
          <a:solidFill>
            <a:srgbClr val="D9743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548640" y="321868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F1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868680" y="3172968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至少有一个典型客户成功的最佳时间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172200" y="3218688"/>
            <a:ext cx="182880" cy="182880"/>
          </a:xfrm>
          <a:prstGeom prst="ellipse">
            <a:avLst/>
          </a:prstGeom>
          <a:solidFill>
            <a:srgbClr val="D9743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6172200" y="321868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F1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492240" y="3172968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能通过典型客户画像推算出明确的目标市场规模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3602736"/>
            <a:ext cx="182880" cy="182880"/>
          </a:xfrm>
          <a:prstGeom prst="ellipse">
            <a:avLst/>
          </a:prstGeom>
          <a:solidFill>
            <a:srgbClr val="D9743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548640" y="360273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F1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868680" y="3557016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一个合理的 UE（单位经济模型）假设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172200" y="3602736"/>
            <a:ext cx="182880" cy="182880"/>
          </a:xfrm>
          <a:prstGeom prst="ellipse">
            <a:avLst/>
          </a:prstGeom>
          <a:solidFill>
            <a:srgbClr val="D9743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3" name="Text 21"/>
          <p:cNvSpPr/>
          <p:nvPr/>
        </p:nvSpPr>
        <p:spPr>
          <a:xfrm>
            <a:off x="6172200" y="360273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F1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492240" y="3557016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验证 UE 的 GTM 路径设计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4251960"/>
            <a:ext cx="11247120" cy="2103120"/>
          </a:xfrm>
          <a:prstGeom prst="rect">
            <a:avLst/>
          </a:prstGeom>
          <a:solidFill>
            <a:srgbClr val="0F141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6" name="Text 24"/>
          <p:cNvSpPr/>
          <p:nvPr/>
        </p:nvSpPr>
        <p:spPr>
          <a:xfrm>
            <a:off x="685800" y="443484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A39E9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PMF 永远要保持迭代——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685800" y="484632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39E9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不管到了多大规模，随时相信：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85800" y="534924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974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「我们的 PMF 还没明确。」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685800" y="576072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974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「我们的 PMF 出了严重问题。」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句子互动  ·  JUZIBOT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0820095" y="644652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200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22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0"/>
            <a:ext cx="3657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0" i="1" dirty="0">
                <a:solidFill>
                  <a:srgbClr val="D974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0000" dirty="0"/>
          </a:p>
        </p:txBody>
      </p:sp>
      <p:sp>
        <p:nvSpPr>
          <p:cNvPr id="3" name="Shape 1"/>
          <p:cNvSpPr/>
          <p:nvPr/>
        </p:nvSpPr>
        <p:spPr>
          <a:xfrm>
            <a:off x="4114800" y="2926080"/>
            <a:ext cx="0" cy="914400"/>
          </a:xfrm>
          <a:prstGeom prst="line">
            <a:avLst/>
          </a:prstGeom>
          <a:noFill/>
          <a:ln w="12700">
            <a:solidFill>
              <a:srgbClr val="D9743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4480560" y="260604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dirty="0">
                <a:solidFill>
                  <a:srgbClr val="F5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给学生创业者的建议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4480560" y="33832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rgbClr val="D97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THINGS I WISH I KNEW EARLIER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480560" y="3977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A39E9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如果回到 2014 年重新开始，我会告诉自己的三件事。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A39E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句子互动  ·  JUZIBOT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820095" y="644652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200" dirty="0">
                <a:solidFill>
                  <a:srgbClr val="A39E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22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228600" cy="36576"/>
          </a:xfrm>
          <a:prstGeom prst="rect">
            <a:avLst/>
          </a:prstGeom>
          <a:solidFill>
            <a:srgbClr val="D9743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77724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D97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03  ·  给学生创业者的建议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6B66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第一件事——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1A1F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心力，是 0 到 1 最稀缺的燃料。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822960" y="2743200"/>
            <a:ext cx="64008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F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 到 1 的过程非常黑暗——因为你要做很多次试错。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F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这个时候谈领导力、谈组织力、讲再多管理流程——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F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都是瞎扯淡。这个时候你最需要的就是心力。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F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你还不能骂下属——因为方向其实是你定错的，能怪人家吗？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F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你还得忍住，夜深人静的时候，只能骂自己。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句子互动  ·  JUZIBOT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0820095" y="644652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200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22</a:t>
            </a:r>
            <a:endParaRPr lang="en-US" sz="900" dirty="0"/>
          </a:p>
        </p:txBody>
      </p:sp>
      <p:sp>
        <p:nvSpPr>
          <p:cNvPr id="13" name="TextBox 12"/>
          <p:cNvSpPr txBox="1"/>
          <p:nvPr/>
        </p:nvSpPr>
        <p:spPr>
          <a:xfrm>
            <a:off x="7315200" y="2926080"/>
            <a:ext cx="4572000" cy="4114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/>
            <a:r>
              <a:rPr sz="2400" b="1">
                <a:solidFill>
                  <a:srgbClr val="A39E92"/>
                </a:solidFill>
                <a:latin typeface="Georgia"/>
                <a:ea typeface="Georgia"/>
                <a:cs typeface="Georgia"/>
              </a:rPr>
              <a:t>愿力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0" y="3337560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/>
            <a:r>
              <a:rPr sz="1300" i="1">
                <a:solidFill>
                  <a:srgbClr val="6B6660"/>
                </a:solidFill>
                <a:latin typeface="Georgia"/>
                <a:ea typeface="Georgia"/>
                <a:cs typeface="Georgia"/>
              </a:rPr>
              <a:t>对未来的独到判断与信念。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0" y="3931920"/>
            <a:ext cx="4572000" cy="7772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/>
            <a:r>
              <a:rPr sz="4400" b="1">
                <a:solidFill>
                  <a:srgbClr val="D97438"/>
                </a:solidFill>
                <a:latin typeface="Georgia"/>
                <a:ea typeface="Georgia"/>
                <a:cs typeface="Georgia"/>
              </a:rPr>
              <a:t>心力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0" y="4754880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/>
            <a:r>
              <a:rPr sz="1400" i="1">
                <a:solidFill>
                  <a:srgbClr val="1A1F26"/>
                </a:solidFill>
                <a:latin typeface="Georgia"/>
                <a:ea typeface="Georgia"/>
                <a:cs typeface="Georgia"/>
              </a:rPr>
              <a:t>黑暗里能走下去的韧性。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0" y="5394960"/>
            <a:ext cx="4572000" cy="4114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/>
            <a:r>
              <a:rPr sz="1300" i="1">
                <a:solidFill>
                  <a:srgbClr val="6B6660"/>
                </a:solidFill>
                <a:latin typeface="Georgia"/>
                <a:ea typeface="Georgia"/>
                <a:cs typeface="Georgia"/>
              </a:rPr>
              <a:t>—— 这两个字,作为创始人,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0" y="5760720"/>
            <a:ext cx="4572000" cy="4114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/>
            <a:r>
              <a:rPr sz="1300" i="1">
                <a:solidFill>
                  <a:srgbClr val="6B6660"/>
                </a:solidFill>
                <a:latin typeface="Georgia"/>
                <a:ea typeface="Georgia"/>
                <a:cs typeface="Georgia"/>
              </a:rPr>
              <a:t>越来越重要,也越来越值钱。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228600" cy="36576"/>
          </a:xfrm>
          <a:prstGeom prst="rect">
            <a:avLst/>
          </a:prstGeom>
          <a:solidFill>
            <a:srgbClr val="D9743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77724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D97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03  ·  给学生创业者的建议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6B66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第二件事——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1A1F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在永远变化里，寻找不变的变量。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457200" y="2606040"/>
            <a:ext cx="5486400" cy="3017520"/>
          </a:xfrm>
          <a:prstGeom prst="rect">
            <a:avLst/>
          </a:prstGeom>
          <a:solidFill>
            <a:srgbClr val="FFFFFF"/>
          </a:solidFill>
          <a:ln w="6350">
            <a:solidFill>
              <a:srgbClr val="D9D3C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685800" y="283464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永远在变的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85800" y="3246120"/>
            <a:ext cx="50292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800" dirty="0">
                <a:solidFill>
                  <a:srgbClr val="6B66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技术栈</a:t>
            </a:r>
            <a:endParaRPr lang="en-US" sz="18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800" dirty="0">
                <a:solidFill>
                  <a:srgbClr val="6B66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产品形态</a:t>
            </a:r>
            <a:endParaRPr lang="en-US" sz="18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800" dirty="0">
                <a:solidFill>
                  <a:srgbClr val="6B66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商业模式</a:t>
            </a:r>
            <a:endParaRPr lang="en-US" sz="18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800" dirty="0">
                <a:solidFill>
                  <a:srgbClr val="6B66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团队配置</a:t>
            </a:r>
            <a:endParaRPr lang="en-US" sz="18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800" dirty="0">
                <a:solidFill>
                  <a:srgbClr val="6B66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融资环境</a:t>
            </a:r>
            <a:endParaRPr lang="en-US" sz="18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800" dirty="0">
                <a:solidFill>
                  <a:srgbClr val="6B66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市场热点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217920" y="2606040"/>
            <a:ext cx="5486400" cy="3017520"/>
          </a:xfrm>
          <a:prstGeom prst="rect">
            <a:avLst/>
          </a:prstGeom>
          <a:solidFill>
            <a:srgbClr val="0F141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6217920" y="2606040"/>
            <a:ext cx="5486400" cy="54864"/>
          </a:xfrm>
          <a:prstGeom prst="rect">
            <a:avLst/>
          </a:prstGeom>
          <a:solidFill>
            <a:srgbClr val="D9743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6446520" y="283464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97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你要找的不变量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46520" y="324612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F5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专注未来十年不变的事情。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446520" y="3749040"/>
            <a:ext cx="5029200" cy="0"/>
          </a:xfrm>
          <a:prstGeom prst="line">
            <a:avLst/>
          </a:prstGeom>
          <a:noFill/>
          <a:ln w="6350">
            <a:solidFill>
              <a:srgbClr val="2A2F3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6446520" y="388620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97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我的不变量：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46520" y="4251960"/>
            <a:ext cx="5029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600" dirty="0">
                <a:solidFill>
                  <a:srgbClr val="F5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 生态 / 社交关系链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600" dirty="0">
                <a:solidFill>
                  <a:srgbClr val="F5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对话式交互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600" dirty="0">
                <a:solidFill>
                  <a:srgbClr val="F5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× 自动化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句子互动  ·  JUZIBOT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0820095" y="644652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200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22</a:t>
            </a:r>
            <a:endParaRPr lang="en-US" sz="900" dirty="0"/>
          </a:p>
        </p:txBody>
      </p:sp>
      <p:sp>
        <p:nvSpPr>
          <p:cNvPr id="19" name="TextBox 18"/>
          <p:cNvSpPr txBox="1"/>
          <p:nvPr/>
        </p:nvSpPr>
        <p:spPr>
          <a:xfrm>
            <a:off x="457200" y="2240280"/>
            <a:ext cx="11247120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/>
            <a:r>
              <a:rPr sz="1600" b="1" i="1">
                <a:solidFill>
                  <a:srgbClr val="D97438"/>
                </a:solidFill>
                <a:latin typeface="Georgia"/>
                <a:ea typeface="Georgia"/>
                <a:cs typeface="Georgia"/>
              </a:rPr>
              <a:t>—— 你的公司,永远带着你的基因。所以,选一个你愿意和它绑定十年的方向。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228600" cy="36576"/>
          </a:xfrm>
          <a:prstGeom prst="rect">
            <a:avLst/>
          </a:prstGeom>
          <a:solidFill>
            <a:srgbClr val="D9743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77724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D97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03  ·  给学生创业者的建议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A39E9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第三件事——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dirty="0">
                <a:solidFill>
                  <a:srgbClr val="D974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平常心。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2606040"/>
            <a:ext cx="11247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1800" i="1" dirty="0">
                <a:solidFill>
                  <a:srgbClr val="F5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平常心不是「佛」，也不是「随缘」。</a:t>
            </a:r>
            <a:endParaRPr lang="en-US" sz="18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800" i="1" dirty="0">
                <a:solidFill>
                  <a:srgbClr val="F5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是努力之外——承认运气，顺势而为。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3749040"/>
            <a:ext cx="2743200" cy="0"/>
          </a:xfrm>
          <a:prstGeom prst="line">
            <a:avLst/>
          </a:prstGeom>
          <a:noFill/>
          <a:ln w="12700">
            <a:solidFill>
              <a:srgbClr val="D9743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457200" y="3931920"/>
            <a:ext cx="640080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300"/>
              </a:spcAft>
              <a:buNone/>
            </a:pPr>
            <a:r>
              <a:rPr lang="en-US" sz="1300" dirty="0">
                <a:solidFill>
                  <a:srgbClr val="A39E9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作为一个穿越周期的学生创业者，今天还能站在这里，回头看——</a:t>
            </a:r>
            <a:endParaRPr lang="en-US" sz="1300" dirty="0"/>
          </a:p>
          <a:p>
            <a:pPr marL="0" indent="0">
              <a:spcAft>
                <a:spcPts val="300"/>
              </a:spcAft>
              <a:buNone/>
            </a:pPr>
            <a:endParaRPr lang="en-US" sz="13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300" dirty="0">
                <a:solidFill>
                  <a:srgbClr val="A39E9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韧性是内在因素，运气是外在因素，两者都占了很大比例。</a:t>
            </a:r>
            <a:endParaRPr lang="en-US" sz="13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300" dirty="0">
                <a:solidFill>
                  <a:srgbClr val="A39E9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2014 年的融资环境，是你想象不到的好；</a:t>
            </a:r>
            <a:endParaRPr lang="en-US" sz="13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300" dirty="0">
                <a:solidFill>
                  <a:srgbClr val="A39E9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今天融不到钱，不一定说明你不好。</a:t>
            </a:r>
            <a:endParaRPr lang="en-US" sz="1300" dirty="0"/>
          </a:p>
          <a:p>
            <a:pPr marL="0" indent="0">
              <a:spcAft>
                <a:spcPts val="300"/>
              </a:spcAft>
              <a:buNone/>
            </a:pPr>
            <a:endParaRPr lang="en-US" sz="13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300" dirty="0">
                <a:solidFill>
                  <a:srgbClr val="A39E9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每个时代都有每个时代的机会。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6217920"/>
            <a:ext cx="11247120" cy="0"/>
          </a:xfrm>
          <a:prstGeom prst="line">
            <a:avLst/>
          </a:prstGeom>
          <a:noFill/>
          <a:ln w="12700">
            <a:solidFill>
              <a:srgbClr val="D9743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A39E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句子互动  ·  JUZIBOT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0820095" y="644652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200" dirty="0">
                <a:solidFill>
                  <a:srgbClr val="A39E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22</a:t>
            </a:r>
            <a:endParaRPr lang="en-US" sz="900" dirty="0"/>
          </a:p>
        </p:txBody>
      </p:sp>
      <p:sp>
        <p:nvSpPr>
          <p:cNvPr id="13" name="TextBox 12"/>
          <p:cNvSpPr txBox="1"/>
          <p:nvPr/>
        </p:nvSpPr>
        <p:spPr>
          <a:xfrm>
            <a:off x="7315200" y="4206240"/>
            <a:ext cx="4572000" cy="9144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4000">
                <a:solidFill>
                  <a:srgbClr val="D97438"/>
                </a:solidFill>
                <a:latin typeface="Georgia"/>
                <a:ea typeface="Georgia"/>
                <a:cs typeface="Georgia"/>
              </a:rPr>
              <a:t>乐观一些,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0" y="4846320"/>
            <a:ext cx="4572000" cy="9144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4000">
                <a:solidFill>
                  <a:srgbClr val="D97438"/>
                </a:solidFill>
                <a:latin typeface="Georgia"/>
                <a:ea typeface="Georgia"/>
                <a:cs typeface="Georgia"/>
              </a:rPr>
              <a:t>也悲观一些。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0" y="5760720"/>
            <a:ext cx="45720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200" i="1">
                <a:solidFill>
                  <a:srgbClr val="A39E92"/>
                </a:solidFill>
                <a:latin typeface="Georgia"/>
                <a:ea typeface="Georgia"/>
                <a:cs typeface="Georgia"/>
              </a:rPr>
              <a:t>—— 这是我 11 年学到的第三件事。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0" y="5669280"/>
            <a:ext cx="640080" cy="22860"/>
          </a:xfrm>
          <a:prstGeom prst="rect">
            <a:avLst/>
          </a:prstGeom>
          <a:solidFill>
            <a:srgbClr val="D97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228600" cy="36576"/>
          </a:xfrm>
          <a:prstGeom prst="rect">
            <a:avLst/>
          </a:prstGeom>
          <a:solidFill>
            <a:srgbClr val="D9743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77724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D97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 OPEN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i="1" dirty="0">
                <a:solidFill>
                  <a:srgbClr val="A39E9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我们正在交付的产品 ——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146304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F5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也还有一堆没解的题。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57200" y="219456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D974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产品 · AI 交付 · AI 销售 · 市场 · 测试 · 运维 · AI 管培生  ——  每一件事,都在被重新定义。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57200" y="6035040"/>
            <a:ext cx="11247120" cy="0"/>
          </a:xfrm>
          <a:prstGeom prst="line">
            <a:avLst/>
          </a:prstGeom>
          <a:noFill/>
          <a:ln w="12700">
            <a:solidFill>
              <a:srgbClr val="D9743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Text 21"/>
          <p:cNvSpPr/>
          <p:nvPr/>
        </p:nvSpPr>
        <p:spPr>
          <a:xfrm>
            <a:off x="457200" y="617220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D974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如果这里有一个题让你停了一下——我们应该聊聊。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10820095" y="644652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200" dirty="0">
                <a:solidFill>
                  <a:srgbClr val="A39E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22</a:t>
            </a:r>
            <a:endParaRPr lang="en-US" sz="900" dirty="0"/>
          </a:p>
        </p:txBody>
      </p:sp>
      <p:sp>
        <p:nvSpPr>
          <p:cNvPr id="26" name="TextBox 25"/>
          <p:cNvSpPr txBox="1"/>
          <p:nvPr/>
        </p:nvSpPr>
        <p:spPr>
          <a:xfrm>
            <a:off x="457200" y="2651760"/>
            <a:ext cx="640080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/>
            <a:r>
              <a:rPr sz="2000" i="1">
                <a:solidFill>
                  <a:srgbClr val="D97438"/>
                </a:solidFill>
                <a:latin typeface="Georgia"/>
                <a:ea typeface="Georgia"/>
                <a:cs typeface="Georgia"/>
              </a:rPr>
              <a:t>01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" y="2624328"/>
            <a:ext cx="4983479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/>
            <a:r>
              <a:rPr sz="1200" b="1">
                <a:solidFill>
                  <a:srgbClr val="F5F1E8"/>
                </a:solidFill>
                <a:latin typeface="Georgia"/>
                <a:ea typeface="Georgia"/>
                <a:cs typeface="Georgia"/>
              </a:rPr>
              <a:t>产品  ·  一个员工怎么带一队 Agent?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51560" y="2990088"/>
            <a:ext cx="4983479" cy="4114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/>
            <a:r>
              <a:rPr sz="900">
                <a:solidFill>
                  <a:srgbClr val="A39E92"/>
                </a:solidFill>
                <a:latin typeface="Georgia"/>
                <a:ea typeface="Georgia"/>
                <a:cs typeface="Georgia"/>
              </a:rPr>
              <a:t>调度、权限、监控、可视化——Agent 的「管理工具」这个品类还不存在。我们在从零设计。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53912" y="2651760"/>
            <a:ext cx="640080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/>
            <a:r>
              <a:rPr sz="2000" i="1">
                <a:solidFill>
                  <a:srgbClr val="D97438"/>
                </a:solidFill>
                <a:latin typeface="Georgia"/>
                <a:ea typeface="Georgia"/>
                <a:cs typeface="Georgia"/>
              </a:rPr>
              <a:t>02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48272" y="2624328"/>
            <a:ext cx="4983479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/>
            <a:r>
              <a:rPr sz="1200" b="1">
                <a:solidFill>
                  <a:srgbClr val="F5F1E8"/>
                </a:solidFill>
                <a:latin typeface="Georgia"/>
                <a:ea typeface="Georgia"/>
                <a:cs typeface="Georgia"/>
              </a:rPr>
              <a:t>AI 交付  ·  借鉴 Palantir 的 FDE 模式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48272" y="2990088"/>
            <a:ext cx="4983479" cy="4114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/>
            <a:r>
              <a:rPr sz="900">
                <a:solidFill>
                  <a:srgbClr val="A39E92"/>
                </a:solidFill>
                <a:latin typeface="Georgia"/>
                <a:ea typeface="Georgia"/>
                <a:cs typeface="Georgia"/>
              </a:rPr>
              <a:t>工程师驻场,把客户的业务流程拆解成 Agent 的标准动作。这条路上,还没有成熟的方法论。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3474720"/>
            <a:ext cx="640080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/>
            <a:r>
              <a:rPr sz="2000" i="1">
                <a:solidFill>
                  <a:srgbClr val="D97438"/>
                </a:solidFill>
                <a:latin typeface="Georgia"/>
                <a:ea typeface="Georgia"/>
                <a:cs typeface="Georgia"/>
              </a:rPr>
              <a:t>03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1560" y="3447288"/>
            <a:ext cx="4983479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/>
            <a:r>
              <a:rPr sz="1200" b="1">
                <a:solidFill>
                  <a:srgbClr val="F5F1E8"/>
                </a:solidFill>
                <a:latin typeface="Georgia"/>
                <a:ea typeface="Georgia"/>
                <a:cs typeface="Georgia"/>
              </a:rPr>
              <a:t>AI 销售  ·  销售也要练「咨询力」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51560" y="3813048"/>
            <a:ext cx="4983479" cy="4114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/>
            <a:r>
              <a:rPr sz="900">
                <a:solidFill>
                  <a:srgbClr val="A39E92"/>
                </a:solidFill>
                <a:latin typeface="Georgia"/>
                <a:ea typeface="Georgia"/>
                <a:cs typeface="Georgia"/>
              </a:rPr>
              <a:t>不是传统跟单。先帮客户做业务咨询、拆解问题、出方案,再把 AI 员工卖出去 —— FDE 思路用在 GTM。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53912" y="3474720"/>
            <a:ext cx="640080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/>
            <a:r>
              <a:rPr sz="2000" i="1">
                <a:solidFill>
                  <a:srgbClr val="D97438"/>
                </a:solidFill>
                <a:latin typeface="Georgia"/>
                <a:ea typeface="Georgia"/>
                <a:cs typeface="Georgia"/>
              </a:rPr>
              <a:t>04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48272" y="3447288"/>
            <a:ext cx="4983479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/>
            <a:r>
              <a:rPr sz="1200" b="1">
                <a:solidFill>
                  <a:srgbClr val="F5F1E8"/>
                </a:solidFill>
                <a:latin typeface="Georgia"/>
                <a:ea typeface="Georgia"/>
                <a:cs typeface="Georgia"/>
              </a:rPr>
              <a:t>市场  ·  新品类如何被快速理解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48272" y="3813048"/>
            <a:ext cx="4983479" cy="4114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/>
            <a:r>
              <a:rPr sz="900">
                <a:solidFill>
                  <a:srgbClr val="A39E92"/>
                </a:solidFill>
                <a:latin typeface="Georgia"/>
                <a:ea typeface="Georgia"/>
                <a:cs typeface="Georgia"/>
              </a:rPr>
              <a:t>「AI 员工」不是 SaaS,不是 PaaS。市场叙事和定价逻辑,我们在从头设计。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" y="4297680"/>
            <a:ext cx="640080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/>
            <a:r>
              <a:rPr sz="2000" i="1">
                <a:solidFill>
                  <a:srgbClr val="D97438"/>
                </a:solidFill>
                <a:latin typeface="Georgia"/>
                <a:ea typeface="Georgia"/>
                <a:cs typeface="Georgia"/>
              </a:rPr>
              <a:t>05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51560" y="4270248"/>
            <a:ext cx="4983479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/>
            <a:r>
              <a:rPr sz="1200" b="1">
                <a:solidFill>
                  <a:srgbClr val="F5F1E8"/>
                </a:solidFill>
                <a:latin typeface="Georgia"/>
                <a:ea typeface="Georgia"/>
                <a:cs typeface="Georgia"/>
              </a:rPr>
              <a:t>测试  ·  Agent 的「考核」怎么做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1560" y="4636008"/>
            <a:ext cx="4983479" cy="4114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/>
            <a:r>
              <a:rPr sz="900">
                <a:solidFill>
                  <a:srgbClr val="A39E92"/>
                </a:solidFill>
                <a:latin typeface="Georgia"/>
                <a:ea typeface="Georgia"/>
                <a:cs typeface="Georgia"/>
              </a:rPr>
              <a:t>对话型产品的回归测试,跟传统 SaaS 完全不是一回事。如何在持续部署中保证质量,我们在摸索。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153912" y="4297680"/>
            <a:ext cx="640080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/>
            <a:r>
              <a:rPr sz="2000" i="1">
                <a:solidFill>
                  <a:srgbClr val="D97438"/>
                </a:solidFill>
                <a:latin typeface="Georgia"/>
                <a:ea typeface="Georgia"/>
                <a:cs typeface="Georgia"/>
              </a:rPr>
              <a:t>06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748272" y="4270248"/>
            <a:ext cx="4983479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/>
            <a:r>
              <a:rPr sz="1200" b="1">
                <a:solidFill>
                  <a:srgbClr val="F5F1E8"/>
                </a:solidFill>
                <a:latin typeface="Georgia"/>
                <a:ea typeface="Georgia"/>
                <a:cs typeface="Georgia"/>
              </a:rPr>
              <a:t>运维  ·  上岗后怎么保证每天都靠谱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748272" y="4636008"/>
            <a:ext cx="4983479" cy="4114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/>
            <a:r>
              <a:rPr sz="900">
                <a:solidFill>
                  <a:srgbClr val="A39E92"/>
                </a:solidFill>
                <a:latin typeface="Georgia"/>
                <a:ea typeface="Georgia"/>
                <a:cs typeface="Georgia"/>
              </a:rPr>
              <a:t>7×24 监控、异常熔断、置信度告警——AI 员工的「值班」体系,我们在边做边建。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200" y="5120640"/>
            <a:ext cx="640080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/>
            <a:r>
              <a:rPr sz="2000" i="1">
                <a:solidFill>
                  <a:srgbClr val="D97438"/>
                </a:solidFill>
                <a:latin typeface="Georgia"/>
                <a:ea typeface="Georgia"/>
                <a:cs typeface="Georgia"/>
              </a:rPr>
              <a:t>07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51560" y="5093208"/>
            <a:ext cx="4983479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/>
            <a:r>
              <a:rPr sz="1200" b="1">
                <a:solidFill>
                  <a:srgbClr val="F5F1E8"/>
                </a:solidFill>
                <a:latin typeface="Georgia"/>
                <a:ea typeface="Georgia"/>
                <a:cs typeface="Georgia"/>
              </a:rPr>
              <a:t>AI 管培生  ·  怎么干 AI 原生的活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51560" y="5458968"/>
            <a:ext cx="4983479" cy="4114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/>
            <a:r>
              <a:rPr sz="900">
                <a:solidFill>
                  <a:srgbClr val="A39E92"/>
                </a:solidFill>
                <a:latin typeface="Georgia"/>
                <a:ea typeface="Georgia"/>
                <a:cs typeface="Georgia"/>
              </a:rPr>
              <a:t>不是教你用 AI——是让你直接成为 AI 原生组织里的人。这套养成体系,业内还没有。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748272" y="5257800"/>
            <a:ext cx="4983479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/>
            <a:r>
              <a:rPr sz="1100" i="1">
                <a:solidFill>
                  <a:srgbClr val="D97438"/>
                </a:solidFill>
                <a:latin typeface="Georgia"/>
                <a:ea typeface="Georgia"/>
                <a:cs typeface="Georgia"/>
              </a:rPr>
              <a:t>…以及更多还在被定义的题。
每一个,都在等一个对的人。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l"/>
            <a:r>
              <a:rPr sz="900">
                <a:solidFill>
                  <a:srgbClr val="A39E92"/>
                </a:solidFill>
                <a:latin typeface="Calibri"/>
                <a:ea typeface="Calibri"/>
                <a:cs typeface="Calibri"/>
              </a:rPr>
              <a:t>句子互动  ·  JUZIBOT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228600" cy="36576"/>
          </a:xfrm>
          <a:prstGeom prst="rect">
            <a:avLst/>
          </a:prstGeom>
          <a:solidFill>
            <a:srgbClr val="D9743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77724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D97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ARE HIRING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6B66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毕业就创业——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1A1F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并不是最佳选择。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57200" y="210312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D974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如果想体验创业——也可以加入一家创业公司。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2880360"/>
            <a:ext cx="6949440" cy="22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3C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457200" y="2880360"/>
            <a:ext cx="91440" cy="2286000"/>
          </a:xfrm>
          <a:prstGeom prst="rect">
            <a:avLst/>
          </a:prstGeom>
          <a:solidFill>
            <a:srgbClr val="D9743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1371600" y="3063240"/>
            <a:ext cx="59436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300"/>
              </a:spcAft>
              <a:buNone/>
            </a:pPr>
            <a:r>
              <a:rPr lang="en-US" sz="1300" dirty="0">
                <a:solidFill>
                  <a:srgbClr val="1A1F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加入一个优秀的早期公司有一个明显的好处——</a:t>
            </a:r>
            <a:endParaRPr lang="en-US" sz="13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300" dirty="0">
                <a:solidFill>
                  <a:srgbClr val="1A1F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公司会想尽办法帮你提高，因为公司有很多事情要做，而人员又有限。</a:t>
            </a:r>
            <a:endParaRPr lang="en-US" sz="13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300" dirty="0">
                <a:solidFill>
                  <a:srgbClr val="1A1F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这个时候就会对有潜质的人提出各种高的要求，帮助提高。</a:t>
            </a:r>
            <a:endParaRPr lang="en-US" sz="1300" dirty="0"/>
          </a:p>
          <a:p>
            <a:pPr marL="0" indent="0">
              <a:spcAft>
                <a:spcPts val="300"/>
              </a:spcAft>
              <a:buNone/>
            </a:pPr>
            <a:endParaRPr lang="en-US" sz="13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300" dirty="0">
                <a:solidFill>
                  <a:srgbClr val="1A1F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用心认真的折腾是没有风险的。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371600" y="480060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——  张一鸣  ·  字节跳动创始人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句子互动  ·  JUZIBOT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0820095" y="644652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200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/ 22</a:t>
            </a:r>
            <a:endParaRPr lang="en-US" sz="900" dirty="0"/>
          </a:p>
        </p:txBody>
      </p:sp>
      <p:sp>
        <p:nvSpPr>
          <p:cNvPr id="17" name="TextBox 16"/>
          <p:cNvSpPr txBox="1"/>
          <p:nvPr/>
        </p:nvSpPr>
        <p:spPr>
          <a:xfrm>
            <a:off x="7772400" y="2697480"/>
            <a:ext cx="411480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/>
            <a:r>
              <a:rPr sz="1400" i="1">
                <a:solidFill>
                  <a:srgbClr val="D97438"/>
                </a:solidFill>
                <a:latin typeface="Georgia"/>
                <a:ea typeface="Georgia"/>
                <a:cs typeface="Georgia"/>
              </a:rPr>
              <a:t>句子互动,正在招 ——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55279" y="3108960"/>
            <a:ext cx="3931920" cy="3474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/>
            <a:r>
              <a:rPr sz="1800" b="1">
                <a:solidFill>
                  <a:srgbClr val="1A1F26"/>
                </a:solidFill>
                <a:latin typeface="Georgia"/>
                <a:ea typeface="Georgia"/>
                <a:cs typeface="Georgia"/>
              </a:rPr>
              <a:t>产品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55279" y="3474720"/>
            <a:ext cx="3931920" cy="3474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/>
            <a:r>
              <a:rPr sz="1800" b="1">
                <a:solidFill>
                  <a:srgbClr val="1A1F26"/>
                </a:solidFill>
                <a:latin typeface="Georgia"/>
                <a:ea typeface="Georgia"/>
                <a:cs typeface="Georgia"/>
              </a:rPr>
              <a:t>AI 交付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55279" y="3840480"/>
            <a:ext cx="3931920" cy="3474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/>
            <a:r>
              <a:rPr sz="1800" b="1">
                <a:solidFill>
                  <a:srgbClr val="1A1F26"/>
                </a:solidFill>
                <a:latin typeface="Georgia"/>
                <a:ea typeface="Georgia"/>
                <a:cs typeface="Georgia"/>
              </a:rPr>
              <a:t>AI 销售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55279" y="4206240"/>
            <a:ext cx="3931920" cy="3474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/>
            <a:r>
              <a:rPr sz="1800" b="1">
                <a:solidFill>
                  <a:srgbClr val="1A1F26"/>
                </a:solidFill>
                <a:latin typeface="Georgia"/>
                <a:ea typeface="Georgia"/>
                <a:cs typeface="Georgia"/>
              </a:rPr>
              <a:t>市场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55279" y="5303520"/>
            <a:ext cx="3931920" cy="3474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/>
            <a:r>
              <a:rPr sz="1800" b="1">
                <a:solidFill>
                  <a:srgbClr val="1A1F26"/>
                </a:solidFill>
                <a:latin typeface="Georgia"/>
                <a:ea typeface="Georgia"/>
                <a:cs typeface="Georgia"/>
              </a:rPr>
              <a:t>AI 管培生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0" y="5852160"/>
            <a:ext cx="4114800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/>
            <a:r>
              <a:rPr sz="1200" i="1">
                <a:solidFill>
                  <a:srgbClr val="D97438"/>
                </a:solidFill>
                <a:latin typeface="Georgia"/>
                <a:ea typeface="Georgia"/>
                <a:cs typeface="Georgia"/>
              </a:rPr>
              <a:t>如果你今天听到的某一个瞬间让你心动——
分享后来找我。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55279" y="4572000"/>
            <a:ext cx="3931920" cy="3474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/>
            <a:r>
              <a:rPr sz="1800" b="1">
                <a:solidFill>
                  <a:srgbClr val="1A1F26"/>
                </a:solidFill>
                <a:latin typeface="Georgia"/>
                <a:ea typeface="Georgia"/>
                <a:cs typeface="Georgia"/>
              </a:rPr>
              <a:t>测试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55279" y="4937760"/>
            <a:ext cx="3931920" cy="3474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/>
            <a:r>
              <a:rPr sz="1800" b="1">
                <a:solidFill>
                  <a:srgbClr val="1A1F26"/>
                </a:solidFill>
                <a:latin typeface="Georgia"/>
                <a:ea typeface="Georgia"/>
                <a:cs typeface="Georgia"/>
              </a:rPr>
              <a:t>运维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457200" y="457200"/>
            <a:ext cx="274320" cy="36576"/>
          </a:xfrm>
          <a:prstGeom prst="rect">
            <a:avLst/>
          </a:prstGeom>
          <a:solidFill>
            <a:srgbClr val="D97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2960" y="32004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/>
            <a:r>
              <a:rPr sz="1000" b="1">
                <a:solidFill>
                  <a:srgbClr val="D97438"/>
                </a:solidFill>
                <a:latin typeface="Calibri"/>
                <a:ea typeface="Calibri"/>
                <a:cs typeface="Calibri"/>
              </a:rPr>
              <a:t>THE END  ·  NOT THE END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2103120"/>
            <a:ext cx="6858000" cy="7772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/>
            <a:r>
              <a:rPr sz="3200">
                <a:solidFill>
                  <a:srgbClr val="F5F1E8"/>
                </a:solidFill>
                <a:latin typeface="Georgia"/>
                <a:ea typeface="Georgia"/>
                <a:cs typeface="Georgia"/>
              </a:rPr>
              <a:t>组织,正在被重新发明。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2971800"/>
            <a:ext cx="6858000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/>
            <a:r>
              <a:rPr sz="1800" i="1">
                <a:solidFill>
                  <a:srgbClr val="A39E92"/>
                </a:solidFill>
                <a:latin typeface="Georgia"/>
                <a:ea typeface="Georgia"/>
                <a:cs typeface="Georgia"/>
              </a:rPr>
              <a:t>而你 ——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3520440"/>
            <a:ext cx="6858000" cy="7772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/>
            <a:r>
              <a:rPr sz="3200">
                <a:solidFill>
                  <a:srgbClr val="D97438"/>
                </a:solidFill>
                <a:latin typeface="Georgia"/>
                <a:ea typeface="Georgia"/>
                <a:cs typeface="Georgia"/>
              </a:rPr>
              <a:t>可以是发明者之一。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5074920"/>
            <a:ext cx="6858000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/>
            <a:r>
              <a:rPr sz="2200" b="1">
                <a:solidFill>
                  <a:srgbClr val="F5F1E8"/>
                </a:solidFill>
                <a:latin typeface="Georgia"/>
                <a:ea typeface="Georgia"/>
                <a:cs typeface="Georgia"/>
              </a:rPr>
              <a:t>李佳芮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5577840"/>
            <a:ext cx="685800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/>
            <a:r>
              <a:rPr sz="1300">
                <a:solidFill>
                  <a:srgbClr val="A39E92"/>
                </a:solidFill>
                <a:latin typeface="Georgia"/>
                <a:ea typeface="Georgia"/>
                <a:cs typeface="Georgia"/>
              </a:rPr>
              <a:t>句子互动  ·  JuziBot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5897880"/>
            <a:ext cx="685800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/>
            <a:r>
              <a:rPr sz="1100">
                <a:solidFill>
                  <a:srgbClr val="A39E92"/>
                </a:solidFill>
                <a:latin typeface="Georgia"/>
                <a:ea typeface="Georgia"/>
                <a:cs typeface="Georgia"/>
              </a:rPr>
              <a:t>原点大厦 A 座 701  ·  www.juzibot.com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0" y="1005840"/>
            <a:ext cx="411480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/>
            <a:r>
              <a:rPr sz="1400" b="1" i="1">
                <a:solidFill>
                  <a:srgbClr val="D97438"/>
                </a:solidFill>
                <a:latin typeface="Georgia"/>
                <a:ea typeface="Georgia"/>
                <a:cs typeface="Georgia"/>
              </a:rPr>
              <a:t>扫码加我微信</a:t>
            </a:r>
          </a:p>
        </p:txBody>
      </p:sp>
      <p:pic>
        <p:nvPicPr>
          <p:cNvPr id="27" name="Picture 26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06840" y="1371600"/>
            <a:ext cx="1645920" cy="164592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7772400" y="3246120"/>
            <a:ext cx="411480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/>
            <a:r>
              <a:rPr sz="1200" i="1">
                <a:solidFill>
                  <a:srgbClr val="D97438"/>
                </a:solidFill>
                <a:latin typeface="Georgia"/>
                <a:ea typeface="Georgia"/>
                <a:cs typeface="Georgia"/>
              </a:rPr>
              <a:t>句子互动,正在招 ——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55279" y="3657600"/>
            <a:ext cx="393192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/>
            <a:r>
              <a:rPr sz="1500" b="1">
                <a:solidFill>
                  <a:srgbClr val="F5F1E8"/>
                </a:solidFill>
                <a:latin typeface="Georgia"/>
                <a:ea typeface="Georgia"/>
                <a:cs typeface="Georgia"/>
              </a:rPr>
              <a:t>产品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955279" y="4041648"/>
            <a:ext cx="393192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/>
            <a:r>
              <a:rPr sz="1500" b="1">
                <a:solidFill>
                  <a:srgbClr val="F5F1E8"/>
                </a:solidFill>
                <a:latin typeface="Georgia"/>
                <a:ea typeface="Georgia"/>
                <a:cs typeface="Georgia"/>
              </a:rPr>
              <a:t>AI 交付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955279" y="4425696"/>
            <a:ext cx="393192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/>
            <a:r>
              <a:rPr sz="1500" b="1">
                <a:solidFill>
                  <a:srgbClr val="F5F1E8"/>
                </a:solidFill>
                <a:latin typeface="Georgia"/>
                <a:ea typeface="Georgia"/>
                <a:cs typeface="Georgia"/>
              </a:rPr>
              <a:t>AI 销售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955279" y="4809744"/>
            <a:ext cx="393192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/>
            <a:r>
              <a:rPr sz="1500" b="1">
                <a:solidFill>
                  <a:srgbClr val="F5F1E8"/>
                </a:solidFill>
                <a:latin typeface="Georgia"/>
                <a:ea typeface="Georgia"/>
                <a:cs typeface="Georgia"/>
              </a:rPr>
              <a:t>市场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955279" y="5193792"/>
            <a:ext cx="393192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/>
            <a:r>
              <a:rPr sz="1500" b="1">
                <a:solidFill>
                  <a:srgbClr val="F5F1E8"/>
                </a:solidFill>
                <a:latin typeface="Georgia"/>
                <a:ea typeface="Georgia"/>
                <a:cs typeface="Georgia"/>
              </a:rPr>
              <a:t>测试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955279" y="5577840"/>
            <a:ext cx="393192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/>
            <a:r>
              <a:rPr sz="1500" b="1">
                <a:solidFill>
                  <a:srgbClr val="F5F1E8"/>
                </a:solidFill>
                <a:latin typeface="Georgia"/>
                <a:ea typeface="Georgia"/>
                <a:cs typeface="Georgia"/>
              </a:rPr>
              <a:t>运维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955279" y="5961888"/>
            <a:ext cx="393192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/>
            <a:r>
              <a:rPr sz="1500" b="1">
                <a:solidFill>
                  <a:srgbClr val="F5F1E8"/>
                </a:solidFill>
                <a:latin typeface="Georgia"/>
                <a:ea typeface="Georgia"/>
                <a:cs typeface="Georgia"/>
              </a:rPr>
              <a:t>AI 管培生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817352" y="6446520"/>
            <a:ext cx="100584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r"/>
            <a:r>
              <a:rPr sz="900">
                <a:solidFill>
                  <a:srgbClr val="A39E92"/>
                </a:solidFill>
                <a:latin typeface="Calibri"/>
                <a:ea typeface="Calibri"/>
                <a:cs typeface="Calibri"/>
              </a:rPr>
              <a:t>22 / 22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l"/>
            <a:r>
              <a:rPr sz="900">
                <a:solidFill>
                  <a:srgbClr val="A39E92"/>
                </a:solidFill>
                <a:latin typeface="Calibri"/>
                <a:ea typeface="Calibri"/>
                <a:cs typeface="Calibri"/>
              </a:rPr>
              <a:t>句子互动  ·  JUZIBOT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1355</Words>
  <Application>Microsoft Macintosh PowerPoint</Application>
  <PresentationFormat>宽屏</PresentationFormat>
  <Paragraphs>395</Paragraphs>
  <Slides>22</Slides>
  <Notes>20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22</vt:i4>
      </vt:variant>
    </vt:vector>
  </HeadingPairs>
  <TitlesOfParts>
    <vt:vector size="26" baseType="lpstr">
      <vt:lpstr>Arial</vt:lpstr>
      <vt:lpstr>Calibri</vt:lpstr>
      <vt:lpstr>Georgia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当人不再是工作的基本单位</dc:title>
  <dc:subject>PptxGenJS Presentation</dc:subject>
  <dc:creator>Grace Li</dc:creator>
  <cp:lastModifiedBy>grace li</cp:lastModifiedBy>
  <cp:revision>3</cp:revision>
  <dcterms:created xsi:type="dcterms:W3CDTF">2026-04-24T19:59:33Z</dcterms:created>
  <dcterms:modified xsi:type="dcterms:W3CDTF">2026-04-26T17:01:28Z</dcterms:modified>
</cp:coreProperties>
</file>