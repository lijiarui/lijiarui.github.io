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7A00"/>
                </a:solidFill>
                <a:latin typeface="PingFang SC"/>
              </a:rPr>
              <a:t>奇绩创坛  ·  Harness 专场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 i="0">
                <a:solidFill>
                  <a:srgbClr val="1A1A2E"/>
                </a:solidFill>
                <a:latin typeface="PingFang SC"/>
              </a:rPr>
              <a:t>在 AI 员工时代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 i="0">
                <a:solidFill>
                  <a:srgbClr val="1A1A2E"/>
                </a:solidFill>
                <a:latin typeface="PingFang SC"/>
              </a:rPr>
              <a:t>重新发明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301752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 i="0">
                <a:solidFill>
                  <a:srgbClr val="1659E5"/>
                </a:solidFill>
                <a:latin typeface="PingFang SC"/>
              </a:rPr>
              <a:t>组织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01752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 i="0">
                <a:solidFill>
                  <a:srgbClr val="1A1A2E"/>
                </a:solidFill>
                <a:latin typeface="PingFang S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6B7A99"/>
                </a:solidFill>
                <a:latin typeface="PingFang SC"/>
              </a:rPr>
              <a:t>AI 员工时代，我们正在交付的下一代组织。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49240"/>
            <a:ext cx="2743200" cy="381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A1A2E"/>
                </a:solidFill>
                <a:latin typeface="PingFang SC"/>
              </a:rPr>
              <a:t>李佳芮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A99"/>
                </a:solidFill>
                <a:latin typeface="PingFang SC"/>
              </a:rPr>
              <a:t>句子互动  ·  创始人 &amp;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5852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2800" b="1" i="0">
                <a:solidFill>
                  <a:srgbClr val="1659E5"/>
                </a:solidFill>
                <a:latin typeface="Helvetica Neue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A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一个穿越周期的创业者  ·  3 家公司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穿越过资本周期，也穿越过 AI 周期。一路从 RPA 做到 Agent。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6727" y="3977639"/>
            <a:ext cx="877824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33575" y="3917187"/>
            <a:ext cx="146304" cy="146304"/>
          </a:xfrm>
          <a:prstGeom prst="ellipse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647" y="414223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2014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9507" y="2514599"/>
            <a:ext cx="1234440" cy="12344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2659" y="2679191"/>
            <a:ext cx="10881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PingFang SC"/>
              </a:rPr>
              <a:t>学院派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659" y="3063239"/>
            <a:ext cx="10881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50" b="0" i="0">
                <a:solidFill>
                  <a:srgbClr val="6B7A99"/>
                </a:solidFill>
                <a:latin typeface="PingFang SC"/>
              </a:rPr>
              <a:t>北邮门口民宅工作室</a:t>
            </a:r>
          </a:p>
        </p:txBody>
      </p:sp>
      <p:sp>
        <p:nvSpPr>
          <p:cNvPr id="12" name="Oval 11"/>
          <p:cNvSpPr/>
          <p:nvPr/>
        </p:nvSpPr>
        <p:spPr>
          <a:xfrm>
            <a:off x="3096615" y="3917187"/>
            <a:ext cx="146304" cy="146304"/>
          </a:xfrm>
          <a:prstGeom prst="ellipse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9687" y="414223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6B7A99"/>
                </a:solidFill>
                <a:latin typeface="Helvetica Neue"/>
              </a:rPr>
              <a:t>2015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52547" y="2514599"/>
            <a:ext cx="1234440" cy="1234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5699" y="2679191"/>
            <a:ext cx="10881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PingFang SC"/>
              </a:rPr>
              <a:t>艾娘子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5699" y="3063239"/>
            <a:ext cx="10881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50" b="0" i="0">
                <a:solidFill>
                  <a:srgbClr val="6B7A99"/>
                </a:solidFill>
                <a:latin typeface="PingFang SC"/>
              </a:rPr>
              <a:t>婚庆 O2O · 第一次失败</a:t>
            </a:r>
          </a:p>
        </p:txBody>
      </p:sp>
      <p:sp>
        <p:nvSpPr>
          <p:cNvPr id="17" name="Oval 16"/>
          <p:cNvSpPr/>
          <p:nvPr/>
        </p:nvSpPr>
        <p:spPr>
          <a:xfrm>
            <a:off x="4559655" y="3917187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2727" y="414223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8B5CF6"/>
                </a:solidFill>
                <a:latin typeface="Helvetica Neue"/>
              </a:rPr>
              <a:t>2017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5587" y="2514599"/>
            <a:ext cx="1234440" cy="1234440"/>
          </a:xfrm>
          <a:prstGeom prst="roundRect">
            <a:avLst>
              <a:gd name="adj" fmla="val 5000"/>
            </a:avLst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8739" y="2679191"/>
            <a:ext cx="10881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PingFang SC"/>
              </a:rPr>
              <a:t>舞哩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8739" y="3063239"/>
            <a:ext cx="10881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50" b="0" i="0">
                <a:solidFill>
                  <a:srgbClr val="6B7A99"/>
                </a:solidFill>
                <a:latin typeface="PingFang SC"/>
              </a:rPr>
              <a:t>亿级播放舞蹈自媒体</a:t>
            </a:r>
          </a:p>
        </p:txBody>
      </p:sp>
      <p:sp>
        <p:nvSpPr>
          <p:cNvPr id="22" name="Oval 21"/>
          <p:cNvSpPr/>
          <p:nvPr/>
        </p:nvSpPr>
        <p:spPr>
          <a:xfrm>
            <a:off x="6022695" y="3917187"/>
            <a:ext cx="146304" cy="146304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55767" y="414223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Helvetica Neue"/>
              </a:rPr>
              <a:t>2017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8627" y="2514599"/>
            <a:ext cx="1234440" cy="123444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1779" y="2679191"/>
            <a:ext cx="10881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PingFang SC"/>
              </a:rPr>
              <a:t>Wechaty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1779" y="3063239"/>
            <a:ext cx="10881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50" b="0" i="0">
                <a:solidFill>
                  <a:srgbClr val="6B7A99"/>
                </a:solidFill>
                <a:latin typeface="PingFang SC"/>
              </a:rPr>
              <a:t>对话式 RPA 开源框架</a:t>
            </a:r>
          </a:p>
        </p:txBody>
      </p:sp>
      <p:sp>
        <p:nvSpPr>
          <p:cNvPr id="27" name="Oval 26"/>
          <p:cNvSpPr/>
          <p:nvPr/>
        </p:nvSpPr>
        <p:spPr>
          <a:xfrm>
            <a:off x="7485735" y="3917187"/>
            <a:ext cx="146304" cy="146304"/>
          </a:xfrm>
          <a:prstGeom prst="ellipse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18807" y="414223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2019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1667" y="2514599"/>
            <a:ext cx="1234440" cy="12344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4819" y="2679191"/>
            <a:ext cx="10881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PingFang SC"/>
              </a:rPr>
              <a:t>句子互动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4819" y="3063239"/>
            <a:ext cx="10881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50" b="0" i="0">
                <a:solidFill>
                  <a:srgbClr val="6B7A99"/>
                </a:solidFill>
                <a:latin typeface="PingFang SC"/>
              </a:rPr>
              <a:t>RPA + IM 自动化</a:t>
            </a:r>
          </a:p>
        </p:txBody>
      </p:sp>
      <p:sp>
        <p:nvSpPr>
          <p:cNvPr id="32" name="Oval 31"/>
          <p:cNvSpPr/>
          <p:nvPr/>
        </p:nvSpPr>
        <p:spPr>
          <a:xfrm>
            <a:off x="8948775" y="3917187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1847" y="414223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8B5CF6"/>
                </a:solidFill>
                <a:latin typeface="Helvetica Neue"/>
              </a:rPr>
              <a:t>2023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04707" y="2514599"/>
            <a:ext cx="1234440" cy="1234440"/>
          </a:xfrm>
          <a:prstGeom prst="roundRect">
            <a:avLst>
              <a:gd name="adj" fmla="val 5000"/>
            </a:avLst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7859" y="2679191"/>
            <a:ext cx="10881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PingFang SC"/>
              </a:rPr>
              <a:t>GPT×RPA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859" y="3063239"/>
            <a:ext cx="10881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50" b="0" i="0">
                <a:solidFill>
                  <a:srgbClr val="6B7A99"/>
                </a:solidFill>
                <a:latin typeface="PingFang SC"/>
              </a:rPr>
              <a:t>国内首家 LLM 落地营销</a:t>
            </a:r>
          </a:p>
        </p:txBody>
      </p:sp>
      <p:sp>
        <p:nvSpPr>
          <p:cNvPr id="37" name="Oval 36"/>
          <p:cNvSpPr/>
          <p:nvPr/>
        </p:nvSpPr>
        <p:spPr>
          <a:xfrm>
            <a:off x="10411815" y="3917187"/>
            <a:ext cx="146304" cy="146304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44887" y="414223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Helvetica Neue"/>
              </a:rPr>
              <a:t>2026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67747" y="2514599"/>
            <a:ext cx="1234440" cy="123444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67747" y="2514599"/>
            <a:ext cx="54864" cy="12344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40899" y="2679191"/>
            <a:ext cx="10881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PingFang SC"/>
              </a:rPr>
              <a:t>AI 员工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40899" y="3063239"/>
            <a:ext cx="10881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50" b="0" i="0">
                <a:solidFill>
                  <a:srgbClr val="6B7A99"/>
                </a:solidFill>
                <a:latin typeface="PingFang SC"/>
              </a:rPr>
              <a:t>秒回 + 秒懂 + 守护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72887" y="5394960"/>
            <a:ext cx="1645920" cy="381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穿越下来——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今天讲我看到的事。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0" b="1" i="0">
                <a:solidFill>
                  <a:srgbClr val="E8F0FF"/>
                </a:solidFill>
                <a:latin typeface="Helvetica Neue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1A1A2E"/>
                </a:solidFill>
                <a:latin typeface="PingFang SC"/>
              </a:rPr>
              <a:t>AI 员工时代  ·  我们正在做的事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Helvetica Neue"/>
              </a:rPr>
              <a:t>THE  AI  EMPLOYEE  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83480"/>
            <a:ext cx="2286000" cy="381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1">
                <a:solidFill>
                  <a:srgbClr val="6B7A99"/>
                </a:solidFill>
                <a:latin typeface="PingFang SC"/>
              </a:rPr>
              <a:t>管理权正在被重新分配。</a:t>
            </a:r>
          </a:p>
          <a:p>
            <a:pPr algn="l">
              <a:lnSpc>
                <a:spcPct val="150000"/>
              </a:lnSpc>
            </a:pPr>
            <a:r>
              <a:rPr sz="1700" b="0" i="1">
                <a:solidFill>
                  <a:srgbClr val="6B7A99"/>
                </a:solidFill>
                <a:latin typeface="PingFang SC"/>
              </a:rPr>
              <a:t>我们做的，是这个时代的基础设施——和真在跑的客户。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01  ·  AI 员工时代  ·  我们正在做的事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他的工作，和两年前完全不一样了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一个客户公司的普通销售——不是销售总监，不是技术极客。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54864" cy="365760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6B7A99"/>
                </a:solidFill>
                <a:latin typeface="PingFang SC"/>
              </a:rPr>
              <a:t>2024  ·  他在做事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一个人，干一个人的活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亲自回复 200+ 条客户消息</a:t>
            </a:r>
          </a:p>
          <a:p>
            <a:pPr algn="l">
              <a:lnSpc>
                <a:spcPct val="19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手工整理每日客户跟进记录</a:t>
            </a:r>
          </a:p>
          <a:p>
            <a:pPr algn="l">
              <a:lnSpc>
                <a:spcPct val="19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复制粘贴标准话术到不同群</a:t>
            </a:r>
          </a:p>
          <a:p>
            <a:pPr algn="l">
              <a:lnSpc>
                <a:spcPct val="19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下班后继续处理白天漏掉的消息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5740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57400"/>
            <a:ext cx="54864" cy="36576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PingFang SC"/>
              </a:rPr>
              <a:t>2026  ·  他在带一支 Agent 团队做事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一个人，带一支队伍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200+ 客户跟进由一组 Agent 并行处理</a:t>
            </a:r>
          </a:p>
          <a:p>
            <a:pPr algn="l">
              <a:lnSpc>
                <a:spcPct val="19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他只处理被路由出来的低置信度对话</a:t>
            </a:r>
          </a:p>
          <a:p>
            <a:pPr algn="l">
              <a:lnSpc>
                <a:spcPct val="19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新话术训练一次，整个 Agent 集群当天生效</a:t>
            </a:r>
          </a:p>
          <a:p>
            <a:pPr algn="l">
              <a:lnSpc>
                <a:spcPct val="19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下班前半小时，看一遍当天 Agent 的交付报告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54864" cy="5486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943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1">
                <a:solidFill>
                  <a:srgbClr val="1A1A2E"/>
                </a:solidFill>
                <a:latin typeface="PingFang SC"/>
              </a:rPr>
              <a:t>「这不是 AI 工具。是管理权的重新分配。」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01  ·  AI 员工时代  ·  我们正在做的事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1A1A2E"/>
                </a:solidFill>
                <a:latin typeface="PingFang SC"/>
              </a:rPr>
              <a:t>他的桌面长这样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6B7A99"/>
                </a:solidFill>
                <a:latin typeface="PingFang SC"/>
              </a:rPr>
              <a:t>Agent 协作工作台——一个销售带一组 Agent 跟 200+ 客户。</a:t>
            </a:r>
          </a:p>
        </p:txBody>
      </p:sp>
      <p:pic>
        <p:nvPicPr>
          <p:cNvPr id="6" name="Picture 5" descr="agent-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554480"/>
            <a:ext cx="9326880" cy="48151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01  ·  AI 员工时代  ·  我们正在做的事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我们做的不是 AI 工具，不是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是在重新定义「员工」这件事——交付、付薪、收费，这三件事我们都在重写。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4864" cy="41148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659E5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004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1A1A2E"/>
                </a:solidFill>
                <a:latin typeface="PingFang SC"/>
              </a:rPr>
              <a:t>交付结果，不是输出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6B7A99"/>
                </a:solidFill>
                <a:latin typeface="PingFang SC"/>
              </a:rPr>
              <a:t>客户买的不是一个能对话的模型。是完成任务的结果——订单、满意度、转化率。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486400"/>
            <a:ext cx="3108960" cy="127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659E5"/>
                </a:solidFill>
                <a:latin typeface="PingFang SC"/>
              </a:rPr>
              <a:t>AI 员工，按业务结果交付。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2103120"/>
            <a:ext cx="54864" cy="4114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286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7A00"/>
                </a:solidFill>
                <a:latin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7004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1A1A2E"/>
                </a:solidFill>
                <a:latin typeface="PingFang SC"/>
              </a:rPr>
              <a:t>按底薪 + 提成收费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79476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6B7A99"/>
                </a:solidFill>
                <a:latin typeface="PingFang SC"/>
              </a:rPr>
              <a:t>不再按 API 调用次数、不再按席位数。</a:t>
            </a:r>
          </a:p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6B7A99"/>
                </a:solidFill>
                <a:latin typeface="PingFang SC"/>
              </a:rPr>
              <a:t>像真实员工一样，有基础工资，有业绩提成。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9432" y="5486400"/>
            <a:ext cx="3108960" cy="127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56235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7A00"/>
                </a:solidFill>
                <a:latin typeface="PingFang SC"/>
              </a:rPr>
              <a:t>客户付的每一分钱，对应一个真实结果。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2103120"/>
            <a:ext cx="54864" cy="41148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2286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00C28B"/>
                </a:solidFill>
                <a:latin typeface="Helvetica Neue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67004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1A1A2E"/>
                </a:solidFill>
                <a:latin typeface="PingFang SC"/>
              </a:rPr>
              <a:t>重塑 SaaS 的收费模式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79476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6B7A99"/>
                </a:solidFill>
                <a:latin typeface="PingFang SC"/>
              </a:rPr>
              <a:t>SaaS 卖工具，按人头收费；AI 员工卖结果，按交付收费。整个商业逻辑在被改写。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75904" y="5486400"/>
            <a:ext cx="3108960" cy="127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56235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00C28B"/>
                </a:solidFill>
                <a:latin typeface="PingFang SC"/>
              </a:rPr>
              <a:t>客户预算从「买软件」流向「买活」。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01  ·  AI 员工时代  ·  我们正在做的事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AI 原生组织，长什么样？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不是「用了 AI 的公司」。是组织结构本身被重写的公司。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091672" cy="1234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Helvetica Neue"/>
              </a:rPr>
              <a:t>层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组织单元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41448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6B7A99"/>
                </a:solidFill>
                <a:latin typeface="PingFang SC"/>
              </a:rPr>
              <a:t>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441448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 i="0">
                <a:solidFill>
                  <a:srgbClr val="1659E5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37744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44144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1659E5"/>
                </a:solidFill>
                <a:latin typeface="PingFang SC"/>
              </a:rPr>
              <a:t>人 + Agent 队伍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286000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6B7A99"/>
                </a:solidFill>
                <a:latin typeface="PingFang SC"/>
              </a:rPr>
              <a:t>工作的基本单位不再是个体。而是一个普通人和他调度的一队 Agent 的混合体。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64992"/>
            <a:ext cx="11091672" cy="1234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478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Helvetica Neue"/>
              </a:rPr>
              <a:t>层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2219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能力杠杆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74904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6B7A99"/>
                </a:solidFill>
                <a:latin typeface="PingFang SC"/>
              </a:rPr>
              <a:t>雇更多的人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 i="0">
                <a:solidFill>
                  <a:srgbClr val="1659E5"/>
                </a:solidFill>
                <a:latin typeface="Helvetica Neue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3685032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74904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1659E5"/>
                </a:solidFill>
                <a:latin typeface="PingFang SC"/>
              </a:rPr>
              <a:t>一个人带一支队伍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593592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6B7A99"/>
                </a:solidFill>
                <a:latin typeface="PingFang SC"/>
              </a:rPr>
              <a:t>过去要扩大产能，必须招更多人。现在每个普通员工都能带 5-10 个 Agent 下属。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72584"/>
            <a:ext cx="11091672" cy="1234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554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Helvetica Neue"/>
              </a:rPr>
              <a:t>层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29784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管理权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05663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6B7A99"/>
                </a:solidFill>
                <a:latin typeface="PingFang SC"/>
              </a:rPr>
              <a:t>只有 CEO 带人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505663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 i="0">
                <a:solidFill>
                  <a:srgbClr val="1659E5"/>
                </a:solidFill>
                <a:latin typeface="Helvetica Neu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992624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505663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1659E5"/>
                </a:solidFill>
                <a:latin typeface="PingFang SC"/>
              </a:rPr>
              <a:t>每个人都是管理者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901184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6B7A99"/>
                </a:solidFill>
                <a:latin typeface="PingFang SC"/>
              </a:rPr>
              <a:t>过去只有少数人有管理下属的经验。现在每个普通员工每天都在调度、分配、review。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943600"/>
            <a:ext cx="11091672" cy="50292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943600"/>
            <a:ext cx="54864" cy="5029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0350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工具，让一个人更强。组织单元，让一个普通人能带一支队伍。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01  ·  AI 员工时代  ·  我们正在做的事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代码之外，我们做的三类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代码这块，Claude Code 已经解了。剩下三类——我们一直在做。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4864" cy="36576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3288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659E5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A2E"/>
                </a:solidFill>
                <a:latin typeface="PingFang SC"/>
              </a:rPr>
              <a:t>客户专属 Agent，几天就能搭出来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6B7A99"/>
                </a:solidFill>
                <a:latin typeface="PingFang SC"/>
              </a:rPr>
              <a:t>通用 harness 的边界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A2E"/>
                </a:solidFill>
                <a:latin typeface="PingFang SC"/>
              </a:rPr>
              <a:t>Claude Code 只给写代码的人。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A2E"/>
                </a:solidFill>
                <a:latin typeface="PingFang SC"/>
              </a:rPr>
              <a:t>但每个客户的业务、规则、流程都不同——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A2E"/>
                </a:solidFill>
                <a:latin typeface="PingFang SC"/>
              </a:rPr>
              <a:t>通用 Agent 装不进去，得有人手把手装。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1659E5"/>
                </a:solidFill>
                <a:latin typeface="PingFang SC"/>
              </a:rPr>
              <a:t>我们的做法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 i="0">
                <a:solidFill>
                  <a:srgbClr val="1A1A2E"/>
                </a:solidFill>
                <a:latin typeface="PingFang SC"/>
              </a:rPr>
              <a:t>句子秒懂——低代码 Agent 平台。</a:t>
            </a:r>
          </a:p>
          <a:p>
            <a:pPr algn="l">
              <a:lnSpc>
                <a:spcPct val="155000"/>
              </a:lnSpc>
            </a:pPr>
            <a:r>
              <a:rPr sz="1100" b="1" i="0">
                <a:solidFill>
                  <a:srgbClr val="1A1A2E"/>
                </a:solidFill>
                <a:latin typeface="PingFang SC"/>
              </a:rPr>
              <a:t>FDE 团队用它，几天给客户搭出专属 Agent。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33172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331720"/>
            <a:ext cx="54864" cy="36576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53288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7A00"/>
                </a:solidFill>
                <a:latin typeface="Helvetica Neu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017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A2E"/>
                </a:solidFill>
                <a:latin typeface="PingFang SC"/>
              </a:rPr>
              <a:t>IM-native 的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657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6B7A99"/>
                </a:solidFill>
                <a:latin typeface="PingFang SC"/>
              </a:rPr>
              <a:t>通用 harness 的边界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9319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A2E"/>
                </a:solidFill>
                <a:latin typeface="PingFang SC"/>
              </a:rPr>
              <a:t>入口是 terminal / web，不在 IM 里。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A2E"/>
                </a:solidFill>
                <a:latin typeface="PingFang SC"/>
              </a:rPr>
              <a:t>Agent 必须出现在客户已经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A2E"/>
                </a:solidFill>
                <a:latin typeface="PingFang SC"/>
              </a:rPr>
              <a:t>花 8 小时的地方。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49377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FF7A00"/>
                </a:solidFill>
                <a:latin typeface="PingFang SC"/>
              </a:rPr>
              <a:t>我们的做法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52120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 i="0">
                <a:solidFill>
                  <a:srgbClr val="1A1A2E"/>
                </a:solidFill>
                <a:latin typeface="PingFang SC"/>
              </a:rPr>
              <a:t>句子秒回——打通企微 / 飞书 /</a:t>
            </a:r>
          </a:p>
          <a:p>
            <a:pPr algn="l">
              <a:lnSpc>
                <a:spcPct val="155000"/>
              </a:lnSpc>
            </a:pPr>
            <a:r>
              <a:rPr sz="1100" b="1" i="0">
                <a:solidFill>
                  <a:srgbClr val="1A1A2E"/>
                </a:solidFill>
                <a:latin typeface="PingFang SC"/>
              </a:rPr>
              <a:t>WhatsApp / TikTok / 小红书。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233172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1584" y="2331720"/>
            <a:ext cx="54864" cy="36576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253288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00C28B"/>
                </a:solidFill>
                <a:latin typeface="Helvetica Neue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017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A2E"/>
                </a:solidFill>
                <a:latin typeface="PingFang SC"/>
              </a:rPr>
              <a:t>行业专属的 Agent harness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3657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6B7A99"/>
                </a:solidFill>
                <a:latin typeface="PingFang SC"/>
              </a:rPr>
              <a:t>通用 harness 的边界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39319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A2E"/>
                </a:solidFill>
                <a:latin typeface="PingFang SC"/>
              </a:rPr>
              <a:t>通用 harness 不带行业工具、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A2E"/>
                </a:solidFill>
                <a:latin typeface="PingFang SC"/>
              </a:rPr>
              <a:t>不接行业系统、不管行业合规。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49377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00C28B"/>
                </a:solidFill>
                <a:latin typeface="PingFang SC"/>
              </a:rPr>
              <a:t>我们的做法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52120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 i="0">
                <a:solidFill>
                  <a:srgbClr val="1A1A2E"/>
                </a:solidFill>
                <a:latin typeface="PingFang SC"/>
              </a:rPr>
              <a:t>5 个行业 know-how + 工具集 +</a:t>
            </a:r>
          </a:p>
          <a:p>
            <a:pPr algn="l">
              <a:lnSpc>
                <a:spcPct val="155000"/>
              </a:lnSpc>
            </a:pPr>
            <a:r>
              <a:rPr sz="1100" b="1" i="0">
                <a:solidFill>
                  <a:srgbClr val="1A1A2E"/>
                </a:solidFill>
                <a:latin typeface="PingFang SC"/>
              </a:rPr>
              <a:t>系统对接 + FDE 交付。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989320"/>
            <a:ext cx="11091672" cy="36576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989320"/>
            <a:ext cx="54864" cy="3657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04418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A2E"/>
                </a:solidFill>
                <a:latin typeface="PingFang SC"/>
              </a:rPr>
              <a:t>三类不是分别做的——是同一个客户身上同时跑。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01  ·  AI 员工时代  ·  我们正在做的事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从第一个 AI 员工，到一整个 AI 原生组织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最痛、最高频的场景先跑通——客户用一个 Agent 拿到真实业绩。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54864" cy="219456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1659E5"/>
                </a:solidFill>
                <a:latin typeface="Helvetica Neue"/>
              </a:rPr>
              <a:t>STAGE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一个 AI 员工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659E5"/>
                </a:solidFill>
                <a:latin typeface="PingFang SC"/>
              </a:rPr>
              <a:t>AI 销售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B7A99"/>
                </a:solidFill>
                <a:latin typeface="PingFang SC"/>
              </a:rPr>
              <a:t>最痛、最高频的场景先跑通。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B7A99"/>
                </a:solidFill>
                <a:latin typeface="PingFang SC"/>
              </a:rPr>
              <a:t>客户用一个 Agent 交付真实业绩。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2926080"/>
            <a:ext cx="146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 i="0">
                <a:solidFill>
                  <a:srgbClr val="6B7A99"/>
                </a:solidFill>
                <a:latin typeface="Helvetica Neu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3672" y="20574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2057400"/>
            <a:ext cx="54864" cy="21945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24028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FF7A00"/>
                </a:solidFill>
                <a:latin typeface="Helvetica Neue"/>
              </a:rPr>
              <a:t>STAGE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5603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一支 AI 员工队伍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01752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7A00"/>
                </a:solidFill>
                <a:latin typeface="PingFang SC"/>
              </a:rPr>
              <a:t>AI 销售 ×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38328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B7A99"/>
                </a:solidFill>
                <a:latin typeface="PingFang SC"/>
              </a:rPr>
              <a:t>从销售到客服、售后、营销——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B7A99"/>
                </a:solidFill>
                <a:latin typeface="PingFang SC"/>
              </a:rPr>
              <a:t>Agent 从单兵作战变成协同团队。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2926080"/>
            <a:ext cx="146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 i="0">
                <a:solidFill>
                  <a:srgbClr val="6B7A99"/>
                </a:solidFill>
                <a:latin typeface="Helvetica Neue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18704" y="20574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18704" y="2057400"/>
            <a:ext cx="54864" cy="219456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224028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00C28B"/>
                </a:solidFill>
                <a:latin typeface="Helvetica Neue"/>
              </a:rPr>
              <a:t>STAGE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5603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AI 原生组织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301752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00C28B"/>
                </a:solidFill>
                <a:latin typeface="PingFang SC"/>
              </a:rPr>
              <a:t>组织结构的重写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338328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B7A99"/>
                </a:solidFill>
                <a:latin typeface="PingFang SC"/>
              </a:rPr>
              <a:t>每个员工都带着 AI 队伍工作。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B7A99"/>
                </a:solidFill>
                <a:latin typeface="PingFang SC"/>
              </a:rPr>
              <a:t>组织基本单位从「人」变成「人 + Agent」。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2628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526280"/>
            <a:ext cx="1109167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0916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8B5CF6"/>
                </a:solidFill>
                <a:latin typeface="PingFang SC"/>
              </a:rPr>
              <a:t>底座  ·  三个产品引擎一起撑起这三个阶段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074920"/>
            <a:ext cx="350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句子秒回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350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8B5CF6"/>
                </a:solidFill>
                <a:latin typeface="PingFang SC"/>
              </a:rPr>
              <a:t>AI 员工的「工位」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350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B7A99"/>
                </a:solidFill>
                <a:latin typeface="PingFang SC"/>
              </a:rPr>
              <a:t>IM 通道接客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9560" y="5303520"/>
            <a:ext cx="365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1" i="0">
                <a:solidFill>
                  <a:srgbClr val="8B5CF6"/>
                </a:solidFill>
                <a:latin typeface="Helvetica Neue"/>
              </a:rP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2440" y="5074920"/>
            <a:ext cx="350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句子秒懂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2440" y="5486400"/>
            <a:ext cx="350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8B5CF6"/>
                </a:solidFill>
                <a:latin typeface="PingFang SC"/>
              </a:rPr>
              <a:t>AI 员工的「大脑」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82440" y="5806440"/>
            <a:ext cx="350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B7A99"/>
                </a:solidFill>
                <a:latin typeface="PingFang SC"/>
              </a:rPr>
              <a:t>低代码 Agent 平台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4760" y="5303520"/>
            <a:ext cx="365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1" i="0">
                <a:solidFill>
                  <a:srgbClr val="8B5CF6"/>
                </a:solidFill>
                <a:latin typeface="Helvetica Neue"/>
              </a:rP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7640" y="5074920"/>
            <a:ext cx="350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句子守护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87640" y="5486400"/>
            <a:ext cx="350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8B5CF6"/>
                </a:solidFill>
                <a:latin typeface="PingFang SC"/>
              </a:rPr>
              <a:t>AI 员工的「主管」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7640" y="5806440"/>
            <a:ext cx="350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B7A99"/>
                </a:solidFill>
                <a:latin typeface="PingFang SC"/>
              </a:rPr>
              <a:t>全生命周期质量保障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01  ·  AI 员工时代  ·  我们正在做的事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我们造 AI 员工——靠两个轮子同时转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基础设施 × FDE——两件事缺一个，都装不进客户的真实业务。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5486400" cy="35204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54864" cy="35204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LEFT WHEEL  ·  左轮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A1A2E"/>
                </a:solidFill>
                <a:latin typeface="PingFang SC"/>
              </a:rPr>
              <a:t>基础设施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659E5"/>
                </a:solidFill>
                <a:latin typeface="PingFang SC"/>
              </a:rPr>
              <a:t>句子秒回 + 句子秒懂 + 句子守护 = 完整的人机协作平台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5000"/>
              </a:lnSpc>
            </a:pPr>
            <a:r>
              <a:rPr sz="1150" b="0">
                <a:solidFill>
                  <a:srgbClr val="1A1A2E"/>
                </a:solidFill>
                <a:latin typeface="PingFang SC"/>
              </a:rPr>
              <a:t>·  沉淀过的 IM 通道适配  →  不用每客户重做</a:t>
            </a:r>
          </a:p>
          <a:p>
            <a:pPr algn="l">
              <a:lnSpc>
                <a:spcPct val="185000"/>
              </a:lnSpc>
            </a:pPr>
            <a:r>
              <a:rPr sz="1150" b="0">
                <a:solidFill>
                  <a:srgbClr val="1A1A2E"/>
                </a:solidFill>
                <a:latin typeface="PingFang SC"/>
              </a:rPr>
              <a:t>·  跨行业策略库  →  新客户起步水位高</a:t>
            </a:r>
          </a:p>
          <a:p>
            <a:pPr algn="l">
              <a:lnSpc>
                <a:spcPct val="185000"/>
              </a:lnSpc>
            </a:pPr>
            <a:r>
              <a:rPr sz="1150" b="0">
                <a:solidFill>
                  <a:srgbClr val="1A1A2E"/>
                </a:solidFill>
                <a:latin typeface="PingFang SC"/>
              </a:rPr>
              <a:t>·  Agent workflow 引擎  →  业务流程可编排</a:t>
            </a:r>
          </a:p>
          <a:p>
            <a:pPr algn="l">
              <a:lnSpc>
                <a:spcPct val="185000"/>
              </a:lnSpc>
            </a:pPr>
            <a:r>
              <a:rPr sz="1150" b="0">
                <a:solidFill>
                  <a:srgbClr val="1A1A2E"/>
                </a:solidFill>
                <a:latin typeface="PingFang SC"/>
              </a:rPr>
              <a:t>·  质量保障体系  →  上线的每一步有把关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57400"/>
            <a:ext cx="5486400" cy="352044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057400"/>
            <a:ext cx="54864" cy="35204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Helvetica Neue"/>
              </a:rPr>
              <a:t>RIGHT WHEEL  ·  右轮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4203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A1A2E"/>
                </a:solidFill>
                <a:latin typeface="PingFang SC"/>
              </a:rPr>
              <a:t>FDE  ·  Forward-Deployed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7A00"/>
                </a:solidFill>
                <a:latin typeface="PingFang SC"/>
              </a:rPr>
              <a:t>把人机协作真的「装」进客户业务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5000"/>
              </a:lnSpc>
            </a:pPr>
            <a:r>
              <a:rPr sz="1150" b="0">
                <a:solidFill>
                  <a:srgbClr val="1A1A2E"/>
                </a:solidFill>
                <a:latin typeface="PingFang SC"/>
              </a:rPr>
              <a:t>·  当下 100 人团队中 ~10% 是 FDE</a:t>
            </a:r>
          </a:p>
          <a:p>
            <a:pPr algn="l">
              <a:lnSpc>
                <a:spcPct val="185000"/>
              </a:lnSpc>
            </a:pPr>
            <a:r>
              <a:rPr sz="1150" b="0">
                <a:solidFill>
                  <a:srgbClr val="1A1A2E"/>
                </a:solidFill>
                <a:latin typeface="PingFang SC"/>
              </a:rPr>
              <a:t>·  目标 12–24 个月扩到 ~30%</a:t>
            </a:r>
          </a:p>
          <a:p>
            <a:pPr algn="l">
              <a:lnSpc>
                <a:spcPct val="185000"/>
              </a:lnSpc>
            </a:pPr>
            <a:r>
              <a:rPr sz="1150" b="0">
                <a:solidFill>
                  <a:srgbClr val="1A1A2E"/>
                </a:solidFill>
                <a:latin typeface="PingFang SC"/>
              </a:rPr>
              <a:t>·  远程为主  ·  重点客户驻场一段时间再回来</a:t>
            </a:r>
          </a:p>
          <a:p>
            <a:pPr algn="l">
              <a:lnSpc>
                <a:spcPct val="185000"/>
              </a:lnSpc>
            </a:pPr>
            <a:r>
              <a:rPr sz="1150" b="0">
                <a:solidFill>
                  <a:srgbClr val="1A1A2E"/>
                </a:solidFill>
                <a:latin typeface="PingFang SC"/>
              </a:rPr>
              <a:t>·  把客户合规、话术、SOP 训练进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60720"/>
            <a:ext cx="11091672" cy="685800"/>
          </a:xfrm>
          <a:prstGeom prst="roundRect">
            <a:avLst>
              <a:gd name="adj" fmla="val 5000"/>
            </a:avLst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52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</a:rPr>
              <a:t>FDE  ≠  implementation consulting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172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PingFang SC"/>
              </a:rPr>
              <a:t>50% 项目交付 + 50% 把客户人机协作的经验沉淀回基础设施——是 R&amp;D feedback loop，不是人天生意。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01  ·  AI 员工时代  ·  我们正在做的事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企业 AI 的胜负，不在「更聪明」，在「更可控」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TO B 要的是 consistent outputs  ·  audit-ready governance  ·  enterprise-grade control。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5486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" cy="5486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A2E"/>
                </a:solidFill>
                <a:latin typeface="PingFang SC"/>
              </a:rPr>
              <a:t>企业问的不再是「哪个模型最强」——而是「哪个能放心装进我的系统」。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2743200" cy="16916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4864" cy="16916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26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0779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659E5"/>
                </a:solidFill>
                <a:latin typeface="PingFang SC"/>
              </a:rPr>
              <a:t>Predictability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输出可重复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1188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1A1A2E"/>
                </a:solidFill>
                <a:latin typeface="PingFang SC"/>
              </a:rPr>
              <a:t>积累的 outcome-tagged 数据  →  Agent 行为可标定可回归。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2424" y="2743200"/>
            <a:ext cx="2743200" cy="16916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2424" y="2743200"/>
            <a:ext cx="54864" cy="16916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2926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290779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659E5"/>
                </a:solidFill>
                <a:latin typeface="PingFang SC"/>
              </a:rPr>
              <a:t>Data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504" y="32004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数据隔离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361188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1A1A2E"/>
                </a:solidFill>
                <a:latin typeface="PingFang SC"/>
              </a:rPr>
              <a:t>支持私有化 / 一体机部署，客户数据不出域。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743200"/>
            <a:ext cx="2743200" cy="16916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2743200"/>
            <a:ext cx="54864" cy="16916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926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90779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659E5"/>
                </a:solidFill>
                <a:latin typeface="PingFang SC"/>
              </a:rPr>
              <a:t>Governance &amp;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2004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行为可管控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61188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1A1A2E"/>
                </a:solidFill>
                <a:latin typeface="PingFang SC"/>
              </a:rPr>
              <a:t>workflow 引擎写死边界 + 5 个高合规行业策略库。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9992" y="2743200"/>
            <a:ext cx="2743200" cy="16916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79992" y="2743200"/>
            <a:ext cx="54864" cy="16916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2926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290779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659E5"/>
                </a:solidFill>
                <a:latin typeface="PingFang SC"/>
              </a:rPr>
              <a:t>Auditability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72" y="32004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全程可审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61188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1A1A2E"/>
                </a:solidFill>
                <a:latin typeface="PingFang SC"/>
              </a:rPr>
              <a:t>每一次 Agent 决策可追溯——金融、政务直接吃这条。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26280"/>
            <a:ext cx="2743200" cy="16916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526280"/>
            <a:ext cx="54864" cy="16916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709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69087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659E5"/>
                </a:solidFill>
                <a:latin typeface="PingFang SC"/>
              </a:rPr>
              <a:t>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983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对接现有系统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39496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1A1A2E"/>
                </a:solidFill>
                <a:latin typeface="PingFang SC"/>
              </a:rPr>
              <a:t>IM 通道适配 + 企业 CRM / 工单 / 知识库直连。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92424" y="4526280"/>
            <a:ext cx="2743200" cy="16916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92424" y="4526280"/>
            <a:ext cx="54864" cy="16916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93592" y="4709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32504" y="469087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659E5"/>
                </a:solidFill>
                <a:latin typeface="PingFang SC"/>
              </a:rPr>
              <a:t>Scalability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32504" y="4983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规模化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3592" y="539496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1A1A2E"/>
                </a:solidFill>
                <a:latin typeface="PingFang SC"/>
              </a:rPr>
              <a:t>1000+ 客户验证过的部署能力，不是 demo-scale。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6208" y="4526280"/>
            <a:ext cx="2743200" cy="16916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36208" y="4526280"/>
            <a:ext cx="54864" cy="16916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7376" y="4709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288" y="469087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659E5"/>
                </a:solidFill>
                <a:latin typeface="PingFang SC"/>
              </a:rPr>
              <a:t>Multi-Model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288" y="4983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灵活切换模型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7376" y="539496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1A1A2E"/>
                </a:solidFill>
                <a:latin typeface="PingFang SC"/>
              </a:rPr>
              <a:t>模型层抽象——支持数百种模型接入，按场景切换。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9992" y="4526280"/>
            <a:ext cx="2743200" cy="1691640"/>
          </a:xfrm>
          <a:prstGeom prst="roundRect">
            <a:avLst>
              <a:gd name="adj" fmla="val 5000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08592" y="4754880"/>
            <a:ext cx="22860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</a:rPr>
              <a:t>企业 AI</a:t>
            </a:r>
          </a:p>
          <a:p>
            <a:pPr algn="l">
              <a:lnSpc>
                <a:spcPct val="155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</a:rPr>
              <a:t>比的不是模型——</a:t>
            </a:r>
          </a:p>
          <a:p>
            <a:pPr algn="l">
              <a:lnSpc>
                <a:spcPct val="155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</a:rPr>
              <a:t>是装得进、跑得稳。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01  ·  AI 员工时代  ·  我们正在做的事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客户已经开始用我们的 AI 员工——都从 AI 销售开始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每一个，都将逐步长成一个 AI 原生组织。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657600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4864" cy="141732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659E5"/>
                </a:solidFill>
                <a:latin typeface="Helvetica Neue"/>
              </a:rPr>
              <a:t>1000+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服务企业用户数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5676" y="1965960"/>
            <a:ext cx="3657600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5676" y="1965960"/>
            <a:ext cx="54864" cy="1417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9996" y="21945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7A00"/>
                </a:solidFill>
                <a:latin typeface="Helvetica Neue"/>
              </a:rPr>
              <a:t>3 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996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营收连续翻倍增长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2712" y="1965960"/>
            <a:ext cx="3657600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82712" y="1965960"/>
            <a:ext cx="54864" cy="14173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1945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0C28B"/>
                </a:solidFill>
                <a:latin typeface="Helvetica Neue"/>
              </a:rPr>
              <a:t>4 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连续盈利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5 个高合规行业  ·  分行业的 know-how 沉淀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2157984" cy="141732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54864" cy="141732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60519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教育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690871"/>
            <a:ext cx="1792224" cy="80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18887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PingFang SC"/>
              </a:rPr>
              <a:t>招生 / 续课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977639"/>
            <a:ext cx="2157984" cy="141732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0" y="3977639"/>
            <a:ext cx="54864" cy="1417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4160519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电商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4690871"/>
            <a:ext cx="1792224" cy="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4818887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售前 / 售后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3977639"/>
            <a:ext cx="2157984" cy="1417320"/>
          </a:xfrm>
          <a:prstGeom prst="roundRect">
            <a:avLst>
              <a:gd name="adj" fmla="val 5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37760" y="3977639"/>
            <a:ext cx="54864" cy="14173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4160519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金融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4690871"/>
            <a:ext cx="1792224" cy="80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4818887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C28B"/>
                </a:solidFill>
                <a:latin typeface="PingFang SC"/>
              </a:rPr>
              <a:t>合规 / 客服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0" y="3977639"/>
            <a:ext cx="2157984" cy="1417320"/>
          </a:xfrm>
          <a:prstGeom prst="roundRect">
            <a:avLst>
              <a:gd name="adj" fmla="val 5000"/>
            </a:avLst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3977639"/>
            <a:ext cx="54864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4160519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政务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4690871"/>
            <a:ext cx="1792224" cy="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4818887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8B5CF6"/>
                </a:solidFill>
                <a:latin typeface="PingFang SC"/>
              </a:rPr>
              <a:t>社工 / 普法调解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3977639"/>
            <a:ext cx="2157984" cy="1417320"/>
          </a:xfrm>
          <a:prstGeom prst="roundRect">
            <a:avLst>
              <a:gd name="adj" fmla="val 5000"/>
            </a:avLst>
          </a:prstGeom>
          <a:solidFill>
            <a:srgbClr val="D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26880" y="3977639"/>
            <a:ext cx="54864" cy="1417320"/>
          </a:xfrm>
          <a:prstGeom prst="rect">
            <a:avLst/>
          </a:prstGeom>
          <a:solidFill>
            <a:srgbClr val="00A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4160519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泛互联网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4690871"/>
            <a:ext cx="1792224" cy="8000"/>
          </a:xfrm>
          <a:prstGeom prst="rect">
            <a:avLst/>
          </a:prstGeom>
          <a:solidFill>
            <a:srgbClr val="00A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4818887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AFA5"/>
                </a:solidFill>
                <a:latin typeface="PingFang SC"/>
              </a:rPr>
              <a:t>增长 / 留存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5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532120"/>
            <a:ext cx="54864" cy="86868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6235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客户的合同一直按结果计价——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01675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6B7A99"/>
                </a:solidFill>
                <a:latin typeface="PingFang SC"/>
              </a:rPr>
              <a:t>市场预算从「买软件」流向「买活」的这一年——我们一直在做这件事。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0" b="1" i="0">
                <a:solidFill>
                  <a:srgbClr val="E8F0FF"/>
                </a:solidFill>
                <a:latin typeface="Helvetica Neue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1A1A2E"/>
                </a:solidFill>
                <a:latin typeface="PingFang SC"/>
              </a:rPr>
              <a:t>生产环境踩出来的 harness 心得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Helvetica Neue"/>
              </a:rPr>
              <a:t>NOTES  FROM 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83480"/>
            <a:ext cx="2286000" cy="381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1">
                <a:solidFill>
                  <a:srgbClr val="6B7A99"/>
                </a:solidFill>
                <a:latin typeface="PingFang SC"/>
              </a:rPr>
              <a:t>harness 是个新词。</a:t>
            </a:r>
          </a:p>
          <a:p>
            <a:pPr algn="l">
              <a:lnSpc>
                <a:spcPct val="150000"/>
              </a:lnSpc>
            </a:pPr>
            <a:r>
              <a:rPr sz="1700" b="0" i="1">
                <a:solidFill>
                  <a:srgbClr val="6B7A99"/>
                </a:solidFill>
                <a:latin typeface="PingFang SC"/>
              </a:rPr>
              <a:t>但它要解的问题，我们一直在做。</a:t>
            </a:r>
          </a:p>
          <a:p>
            <a:pPr algn="l">
              <a:lnSpc>
                <a:spcPct val="150000"/>
              </a:lnSpc>
            </a:pPr>
            <a:r>
              <a:rPr sz="1700" b="0" i="1">
                <a:solidFill>
                  <a:srgbClr val="6B7A99"/>
                </a:solidFill>
                <a:latin typeface="PingFang SC"/>
              </a:rPr>
              <a:t>今天讲我们看出来的几条。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02  ·  生产环境踩出来的 HARNESS 心得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Demo 看起来像魔法。生产环境是另一回事。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模型越强，两者的 gap 不减反增——因为期待涨得更快。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5486400" cy="3520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54864" cy="352044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6B7A99"/>
                </a:solidFill>
                <a:latin typeface="PingFang SC"/>
              </a:rPr>
              <a:t>DEMO 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理想用户  ·  标准剧本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5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输入清晰，目标单一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工具可用率 100%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上下文干净无干扰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失败了可以重跑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跑 5 分钟，演完就过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57400"/>
            <a:ext cx="5486400" cy="35204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57400"/>
            <a:ext cx="54864" cy="35204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PingFang SC"/>
              </a:rPr>
              <a:t>生产环境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真实客户  ·  混乱现实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5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输入带表情包、错别字、截断、跳跃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工具超时、限流、接口变更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上下文里混着过去的噪声与偏见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失败成本实打实——出一次错丢一个客户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7×24 在跑，每一秒都被真实客户评判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91672" cy="64008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760720"/>
            <a:ext cx="54864" cy="6400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决定 Agent 能不能真的上岗的，不是模型——是把它装到生产环境的那套工程。我们叫它 Harness。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02  ·  生产环境踩出来的 HARNESS 心得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Agent = Model +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同一个模型，不同 harness，表现可以差十倍——鲁棒性不会从模型参数里长出来。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657600" cy="361188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4864" cy="361188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A1A2E"/>
                </a:solidFill>
                <a:latin typeface="PingFang SC"/>
              </a:rPr>
              <a:t>脑  ·  Brain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1A1A2E"/>
                </a:solidFill>
                <a:latin typeface="PingFang SC"/>
              </a:rPr>
              <a:t>规模、预训练数据、推理能力。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709160"/>
            <a:ext cx="3108960" cy="80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i="0">
                <a:solidFill>
                  <a:srgbClr val="1659E5"/>
                </a:solidFill>
                <a:latin typeface="PingFang SC"/>
              </a:rPr>
              <a:t>全行业共同进步。</a:t>
            </a:r>
          </a:p>
          <a:p>
            <a:pPr algn="l">
              <a:lnSpc>
                <a:spcPct val="150000"/>
              </a:lnSpc>
            </a:pPr>
            <a:r>
              <a:rPr sz="1150" b="1" i="0">
                <a:solidFill>
                  <a:srgbClr val="1659E5"/>
                </a:solidFill>
                <a:latin typeface="PingFang SC"/>
              </a:rPr>
              <a:t>今天的 SOTA，三个月后所有人都有。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103120"/>
            <a:ext cx="3657600" cy="361188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2103120"/>
            <a:ext cx="54864" cy="3611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331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Helvetica Neue"/>
              </a:rPr>
              <a:t>HARNESS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A1A2E"/>
                </a:solidFill>
                <a:latin typeface="PingFang SC"/>
              </a:rPr>
              <a:t>心  ·  Mind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747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1A1A2E"/>
                </a:solidFill>
                <a:latin typeface="PingFang SC"/>
              </a:rPr>
              <a:t>记忆 / 上下文管理 / 规划 / 反思 / 置信度 / 错误恢复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9432" y="4709160"/>
            <a:ext cx="3108960" cy="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48463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i="0">
                <a:solidFill>
                  <a:srgbClr val="FF7A00"/>
                </a:solidFill>
                <a:latin typeface="PingFang SC"/>
              </a:rPr>
              <a:t>决定 Agent 在不确定性下</a:t>
            </a:r>
          </a:p>
          <a:p>
            <a:pPr algn="l">
              <a:lnSpc>
                <a:spcPct val="150000"/>
              </a:lnSpc>
            </a:pPr>
            <a:r>
              <a:rPr sz="1150" b="1" i="0">
                <a:solidFill>
                  <a:srgbClr val="FF7A00"/>
                </a:solidFill>
                <a:latin typeface="PingFang SC"/>
              </a:rPr>
              <a:t>如何行动。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2103120"/>
            <a:ext cx="3657600" cy="361188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2103120"/>
            <a:ext cx="54864" cy="3611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2331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Helvetica Neue"/>
              </a:rPr>
              <a:t>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6517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A1A2E"/>
                </a:solidFill>
                <a:latin typeface="PingFang SC"/>
              </a:rPr>
              <a:t>手  ·  Hand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4747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1A1A2E"/>
                </a:solidFill>
                <a:latin typeface="PingFang SC"/>
              </a:rPr>
              <a:t>工具选择 / 调用编排 / 失败重试 / 权限与边界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75904" y="4709160"/>
            <a:ext cx="3108960" cy="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48463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i="0">
                <a:solidFill>
                  <a:srgbClr val="FF7A00"/>
                </a:solidFill>
                <a:latin typeface="PingFang SC"/>
              </a:rPr>
              <a:t>决定 Agent 能真实操作世界</a:t>
            </a:r>
          </a:p>
          <a:p>
            <a:pPr algn="l">
              <a:lnSpc>
                <a:spcPct val="150000"/>
              </a:lnSpc>
            </a:pPr>
            <a:r>
              <a:rPr sz="1150" b="1" i="0">
                <a:solidFill>
                  <a:srgbClr val="FF7A00"/>
                </a:solidFill>
                <a:latin typeface="PingFang SC"/>
              </a:rPr>
              <a:t>的深度与安全性。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97880"/>
            <a:ext cx="11091672" cy="50292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897880"/>
            <a:ext cx="54864" cy="5029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鲁棒性几乎完全是 harness 层的问题。模型升级解决不了——只能靠工程。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02  ·  生产环境踩出来的 HARNESS 心得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鲁棒性可以拆成四个维度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每一个维度都有独立的失败模式——也都需要独立的工程解。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5486400" cy="1874519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54864" cy="1874519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659E5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585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1A1A2E"/>
                </a:solidFill>
                <a:latin typeface="PingFang SC"/>
              </a:rPr>
              <a:t>意图鲁棒性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609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1659E5"/>
                </a:solidFill>
                <a:latin typeface="Helvetica Neue"/>
              </a:rPr>
              <a:t>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从模糊、跳跃、带噪声的输入里推真实意图。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i="1">
                <a:solidFill>
                  <a:srgbClr val="1659E5"/>
                </a:solidFill>
                <a:latin typeface="PingFang SC"/>
              </a:rPr>
              <a:t>失败模式  ·  用户说「算了」——是「放弃」还是「换一种」？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057400"/>
            <a:ext cx="5486400" cy="1874519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912" y="2057400"/>
            <a:ext cx="54864" cy="1874519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22402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7A00"/>
                </a:solidFill>
                <a:latin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22585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1A1A2E"/>
                </a:solidFill>
                <a:latin typeface="PingFang SC"/>
              </a:rPr>
              <a:t>工具鲁棒性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26609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FF7A00"/>
                </a:solidFill>
                <a:latin typeface="Helvetica Neue"/>
              </a:rPr>
              <a:t>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063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调用失败时的识别、重试、降级、切换。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474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i="1">
                <a:solidFill>
                  <a:srgbClr val="FF7A00"/>
                </a:solidFill>
                <a:latin typeface="PingFang SC"/>
              </a:rPr>
              <a:t>失败模式  ·  API 超时——无限重试，还是直接放弃整任务？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41647"/>
            <a:ext cx="5486400" cy="1874519"/>
          </a:xfrm>
          <a:prstGeom prst="roundRect">
            <a:avLst>
              <a:gd name="adj" fmla="val 5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41647"/>
            <a:ext cx="54864" cy="1874519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2452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00C28B"/>
                </a:solidFill>
                <a:latin typeface="Helvetica Neue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42815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1A1A2E"/>
                </a:solidFill>
                <a:latin typeface="PingFang SC"/>
              </a:rPr>
              <a:t>长程鲁棒性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45151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00C28B"/>
                </a:solidFill>
                <a:latin typeface="Helvetica Neue"/>
              </a:rPr>
              <a:t>Long-horizon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4748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跨多轮、跨小时、跨天，不偏航、不遗忘目标。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5896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i="1">
                <a:solidFill>
                  <a:srgbClr val="00C28B"/>
                </a:solidFill>
                <a:latin typeface="PingFang SC"/>
              </a:rPr>
              <a:t>失败模式  ·  三小时的任务，第 17 步忘了最初要做什么。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4041647"/>
            <a:ext cx="5486400" cy="1874519"/>
          </a:xfrm>
          <a:prstGeom prst="roundRect">
            <a:avLst>
              <a:gd name="adj" fmla="val 5000"/>
            </a:avLst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4041647"/>
            <a:ext cx="54864" cy="1874519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422452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8B5CF6"/>
                </a:solidFill>
                <a:latin typeface="Helvetica Neue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4242815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1A1A2E"/>
                </a:solidFill>
                <a:latin typeface="PingFang SC"/>
              </a:rPr>
              <a:t>边界鲁棒性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4645151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8B5CF6"/>
                </a:solidFill>
                <a:latin typeface="Helvetica Neue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504748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识别能力边界，高风险主动停下来升级给人。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545896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i="1">
                <a:solidFill>
                  <a:srgbClr val="8B5CF6"/>
                </a:solidFill>
                <a:latin typeface="PingFang SC"/>
              </a:rPr>
              <a:t>失败模式  ·  Agent 自信地给错答案，而不是说「我不确定」。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能系统性拆解鲁棒性的团队凤毛麟角。能把四个维度都工程化的，更少。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02  ·  生产环境踩出来的 HARNESS 心得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Human-in-the-loop 不是妥协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是鲁棒性架构的核心选择。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486400" cy="42519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4864" cy="425196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6B7A99"/>
                </a:solidFill>
                <a:latin typeface="PingFang SC"/>
              </a:rPr>
              <a:t>大部分人的视角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50292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·  HITL = AI 不够强的折中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·  AI 做不好的事让人补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·  目标是尽快不需要人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·  人介入越多，产品越失败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·  衡量指标：AI 替代率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103120"/>
            <a:ext cx="5486400" cy="425196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2103120"/>
            <a:ext cx="54864" cy="42519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PingFang SC"/>
              </a:rPr>
              <a:t>我们的视角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880360"/>
            <a:ext cx="50292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·  HITL = 按置信度动态分配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·  AI 和人是鲁棒性系统的两种资源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·  目标是系统整体稳定交付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·  人介入的「质量」，不是「数量」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·  衡量指标：系统整体置信度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02  ·  生产环境踩出来的 HARNESS 心得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三个工程 Pattern，把 HITL 落到地上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九年在 IM 生产环境里收敛出来的三个 Pattern。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703320" cy="393192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" cy="393192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1659E5"/>
                </a:solidFill>
                <a:latin typeface="Helvetica Neue"/>
              </a:rPr>
              <a:t>PATTERN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置信度路由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7A99"/>
                </a:solidFill>
                <a:latin typeface="PingFang SC"/>
              </a:rPr>
              <a:t>每次请求都过一次分级——决定由谁来做。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49040"/>
            <a:ext cx="73152" cy="54864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00C28B"/>
                </a:solidFill>
                <a:latin typeface="Helvetica Neue"/>
              </a:rPr>
              <a:t>≥ 90 %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A2E"/>
                </a:solidFill>
                <a:latin typeface="PingFang SC"/>
              </a:rPr>
              <a:t>Agent 自主执行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34840"/>
            <a:ext cx="73152" cy="5486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Helvetica Neue"/>
              </a:rPr>
              <a:t>60–90 %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A2E"/>
                </a:solidFill>
                <a:latin typeface="PingFang SC"/>
              </a:rPr>
              <a:t>Agent 执行 · 人工抽检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120640"/>
            <a:ext cx="73152" cy="5486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20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659E5"/>
                </a:solidFill>
                <a:latin typeface="Helvetica Neue"/>
              </a:rPr>
              <a:t>&lt; 60 %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A2E"/>
                </a:solidFill>
                <a:latin typeface="PingFang SC"/>
              </a:rPr>
              <a:t>Agent 起草 · 人工确认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011680"/>
            <a:ext cx="3703320" cy="393192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011680"/>
            <a:ext cx="54864" cy="39319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2402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FF7A00"/>
                </a:solidFill>
                <a:latin typeface="Helvetica Neue"/>
              </a:rPr>
              <a:t>PATTERN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5603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多层校验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0632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7A99"/>
                </a:solidFill>
                <a:latin typeface="PingFang SC"/>
              </a:rPr>
              <a:t>一次输出，过四道独立闸门。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566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Helvetica Neue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566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A1A2E"/>
                </a:solidFill>
                <a:latin typeface="PingFang SC"/>
              </a:rPr>
              <a:t>生成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840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模型产出候选输出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160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Helvetica Neue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160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A1A2E"/>
                </a:solidFill>
                <a:latin typeface="PingFang SC"/>
              </a:rPr>
              <a:t>规则校验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434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硬约束 / 合规 / 黑名单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754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Helvetica Neue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4754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A1A2E"/>
                </a:solidFill>
                <a:latin typeface="PingFang SC"/>
              </a:rPr>
              <a:t>对抗 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5029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另一个 LLM 扮演挑刺者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349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Helvetica Neue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349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A1A2E"/>
                </a:solidFill>
                <a:latin typeface="PingFang SC"/>
              </a:rPr>
              <a:t>执行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5623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发出消息 / 调用工具 / 落库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2011680"/>
            <a:ext cx="3474720" cy="3931920"/>
          </a:xfrm>
          <a:prstGeom prst="roundRect">
            <a:avLst>
              <a:gd name="adj" fmla="val 5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2011680"/>
            <a:ext cx="54864" cy="39319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199" y="2240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00C28B"/>
                </a:solidFill>
                <a:latin typeface="Helvetica Neue"/>
              </a:rPr>
              <a:t>PATTERN 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19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评估飞轮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199" y="30632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7A99"/>
                </a:solidFill>
                <a:latin typeface="PingFang SC"/>
              </a:rPr>
              <a:t>不是 benchmark——</a:t>
            </a:r>
          </a:p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7A99"/>
                </a:solidFill>
                <a:latin typeface="PingFang SC"/>
              </a:rPr>
              <a:t>是真实客户每天在重训练。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199" y="388619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A1A2E"/>
                </a:solidFill>
                <a:latin typeface="PingFang SC"/>
              </a:rPr>
              <a:t>01 · 生产数据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199" y="425195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A1A2E"/>
                </a:solidFill>
                <a:latin typeface="PingFang SC"/>
              </a:rPr>
              <a:t>02 · 失败案例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199" y="461771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A1A2E"/>
                </a:solidFill>
                <a:latin typeface="PingFang SC"/>
              </a:rPr>
              <a:t>03 · 规则与评估集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199" y="498347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A1A2E"/>
                </a:solidFill>
                <a:latin typeface="PingFang SC"/>
              </a:rPr>
              <a:t>04 · 模型 + harness 重配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199" y="5440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00C28B"/>
                </a:solidFill>
                <a:latin typeface="PingFang SC"/>
              </a:rPr>
              <a:t>▲  每天转动一轮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12648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7A99"/>
                </a:solidFill>
                <a:latin typeface="PingFang SC"/>
              </a:rPr>
              <a:t>「加几层、哪一层用 rule、哪一层用 LLM」是场景相关 know-how——IM 客服和金融风控的最优配置完全不同。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02  ·  生产环境踩出来的 HARNESS 心得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句子守护——把飞轮做成产品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左边是产品的 6 个模块。右边是它每天怎么转——问题怎么被抓上来，又怎么回到 Agent 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011680" cy="132588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4864" cy="132588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659E5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042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 i="0">
                <a:solidFill>
                  <a:srgbClr val="1659E5"/>
                </a:solidFill>
                <a:latin typeface="PingFang SC"/>
              </a:rPr>
              <a:t>上线前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AI 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103120"/>
            <a:ext cx="2011680" cy="132588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103120"/>
            <a:ext cx="54864" cy="132588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26771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659E5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3042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 i="0">
                <a:solidFill>
                  <a:srgbClr val="1659E5"/>
                </a:solidFill>
                <a:latin typeface="PingFang SC"/>
              </a:rPr>
              <a:t>上线前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517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批量验收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103120"/>
            <a:ext cx="2011680" cy="132588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2103120"/>
            <a:ext cx="54864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26771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FF7A00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3042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 i="0">
                <a:solidFill>
                  <a:srgbClr val="FF7A00"/>
                </a:solidFill>
                <a:latin typeface="PingFang SC"/>
              </a:rPr>
              <a:t>上线中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6517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灰度发布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40"/>
            <a:ext cx="2011680" cy="1325880"/>
          </a:xfrm>
          <a:prstGeom prst="roundRect">
            <a:avLst>
              <a:gd name="adj" fmla="val 5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20440"/>
            <a:ext cx="54864" cy="132588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8503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00C28B"/>
                </a:solidFill>
                <a:latin typeface="Helvetica Neu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7216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 i="0">
                <a:solidFill>
                  <a:srgbClr val="00C28B"/>
                </a:solidFill>
                <a:latin typeface="PingFang SC"/>
              </a:rPr>
              <a:t>上线后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690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Badcase 反馈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3520440"/>
            <a:ext cx="2011680" cy="1325880"/>
          </a:xfrm>
          <a:prstGeom prst="roundRect">
            <a:avLst>
              <a:gd name="adj" fmla="val 5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51760" y="3520440"/>
            <a:ext cx="54864" cy="132588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368503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00C28B"/>
                </a:solidFill>
                <a:latin typeface="Helvetica Neue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37216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 i="0">
                <a:solidFill>
                  <a:srgbClr val="00C28B"/>
                </a:solidFill>
                <a:latin typeface="PingFang SC"/>
              </a:rPr>
              <a:t>上线后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0690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回归测试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3520440"/>
            <a:ext cx="2011680" cy="1325880"/>
          </a:xfrm>
          <a:prstGeom prst="roundRect">
            <a:avLst>
              <a:gd name="adj" fmla="val 5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54880" y="3520440"/>
            <a:ext cx="54864" cy="132588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68503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00C28B"/>
                </a:solidFill>
                <a:latin typeface="Helvetica Neue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7216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 i="0">
                <a:solidFill>
                  <a:srgbClr val="00C28B"/>
                </a:solidFill>
                <a:latin typeface="PingFang SC"/>
              </a:rPr>
              <a:t>上线后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0690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AI 质检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103120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1659E5"/>
                </a:solidFill>
                <a:latin typeface="Helvetica Neue"/>
              </a:rPr>
              <a:t>FLYWHEEL  ·  每天怎么转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2395728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1A1A2E"/>
                </a:solidFill>
                <a:latin typeface="PingFang SC"/>
              </a:rPr>
              <a:t>问题被抓上来，再回到 Agent</a:t>
            </a:r>
          </a:p>
        </p:txBody>
      </p:sp>
      <p:sp>
        <p:nvSpPr>
          <p:cNvPr id="38" name="Oval 37"/>
          <p:cNvSpPr/>
          <p:nvPr/>
        </p:nvSpPr>
        <p:spPr>
          <a:xfrm>
            <a:off x="6903720" y="2999232"/>
            <a:ext cx="329184" cy="329184"/>
          </a:xfrm>
          <a:prstGeom prst="ellipse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29992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2971800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A1A2E"/>
                </a:solidFill>
                <a:latin typeface="PingFang SC"/>
              </a:rPr>
              <a:t>上千客户的真实生产数据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21868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对话、点击、订单、投诉——每天百万级。</a:t>
            </a:r>
          </a:p>
        </p:txBody>
      </p:sp>
      <p:sp>
        <p:nvSpPr>
          <p:cNvPr id="42" name="Oval 41"/>
          <p:cNvSpPr/>
          <p:nvPr/>
        </p:nvSpPr>
        <p:spPr>
          <a:xfrm>
            <a:off x="6903720" y="3547872"/>
            <a:ext cx="329184" cy="329184"/>
          </a:xfrm>
          <a:prstGeom prst="ellipse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35478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3520440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A1A2E"/>
                </a:solidFill>
                <a:latin typeface="PingFang SC"/>
              </a:rPr>
              <a:t>失败案例进库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376732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低置信度 + 客户 flag + 人工标注。</a:t>
            </a:r>
          </a:p>
        </p:txBody>
      </p:sp>
      <p:sp>
        <p:nvSpPr>
          <p:cNvPr id="46" name="Oval 45"/>
          <p:cNvSpPr/>
          <p:nvPr/>
        </p:nvSpPr>
        <p:spPr>
          <a:xfrm>
            <a:off x="6903720" y="4096512"/>
            <a:ext cx="329184" cy="329184"/>
          </a:xfrm>
          <a:prstGeom prst="ellipse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40965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4069080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A1A2E"/>
                </a:solidFill>
                <a:latin typeface="PingFang SC"/>
              </a:rPr>
              <a:t>规则库 / 评估集越变越大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431596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新 case 进评估集，新模式进规则库。</a:t>
            </a:r>
          </a:p>
        </p:txBody>
      </p:sp>
      <p:sp>
        <p:nvSpPr>
          <p:cNvPr id="50" name="Oval 49"/>
          <p:cNvSpPr/>
          <p:nvPr/>
        </p:nvSpPr>
        <p:spPr>
          <a:xfrm>
            <a:off x="6903720" y="4645152"/>
            <a:ext cx="329184" cy="329184"/>
          </a:xfrm>
          <a:prstGeom prst="ellipse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464515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4617720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A1A2E"/>
                </a:solidFill>
                <a:latin typeface="PingFang SC"/>
              </a:rPr>
              <a:t>模型 + Harness 越调越准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486460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B7A99"/>
                </a:solidFill>
                <a:latin typeface="PingFang SC"/>
              </a:rPr>
              <a:t>下一版按真实数据走，又喂回生产。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5257800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i="1">
                <a:solidFill>
                  <a:srgbClr val="FF7A00"/>
                </a:solidFill>
                <a:latin typeface="PingFang SC"/>
              </a:rPr>
              <a:t>↺  回到 01——失败案例每天都在变多，下一版的 Agent 比上一版更准。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989320"/>
            <a:ext cx="11091672" cy="45720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989320"/>
            <a:ext cx="54864" cy="4572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608990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A2E"/>
                </a:solidFill>
                <a:latin typeface="PingFang SC"/>
              </a:rPr>
              <a:t>模型可抄，harness 可抄。这套循环里日积月累的失败案例库——抄不来。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0" b="1" i="0">
                <a:solidFill>
                  <a:srgbClr val="E8F0FF"/>
                </a:solidFill>
                <a:latin typeface="Helvetica Neue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1A1A2E"/>
                </a:solidFill>
                <a:latin typeface="PingFang SC"/>
              </a:rPr>
              <a:t>还没解的题，等你来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Helvetica Neue"/>
              </a:rPr>
              <a:t>STILL  OPEN  ·  COME  BUILD  WITH 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83480"/>
            <a:ext cx="2286000" cy="381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1">
                <a:solidFill>
                  <a:srgbClr val="6B7A99"/>
                </a:solidFill>
                <a:latin typeface="PingFang SC"/>
              </a:rPr>
              <a:t>我们正在交付的产品，也还有一堆没解的题。</a:t>
            </a:r>
          </a:p>
          <a:p>
            <a:pPr algn="l">
              <a:lnSpc>
                <a:spcPct val="150000"/>
              </a:lnSpc>
            </a:pPr>
            <a:r>
              <a:rPr sz="1700" b="0" i="1">
                <a:solidFill>
                  <a:srgbClr val="6B7A99"/>
                </a:solidFill>
                <a:latin typeface="PingFang SC"/>
              </a:rPr>
              <a:t>每一道，都在等一个对的人。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STILL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我们正在交付的产品——也还有一堆没解的题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产品 · FDE · AI 销售 · 市场 · 测试 · 运维 · AI 管培生——每一件事，都在被重新定义。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743200" cy="1874519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" cy="1874519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94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7627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产品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1">
                <a:solidFill>
                  <a:srgbClr val="1659E5"/>
                </a:solidFill>
                <a:latin typeface="PingFang SC"/>
              </a:rPr>
              <a:t>一个员工怎么带一队 Agent？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7180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7A99"/>
                </a:solidFill>
                <a:latin typeface="PingFang SC"/>
              </a:rPr>
              <a:t>调度、权限、监控、可视化——Agent 的「管理工具」这个品类还不存在。我们在从零设计。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2011680"/>
            <a:ext cx="2743200" cy="1874519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2424" y="2011680"/>
            <a:ext cx="54864" cy="1874519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194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217627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FDE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5603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1">
                <a:solidFill>
                  <a:srgbClr val="FF7A00"/>
                </a:solidFill>
                <a:latin typeface="PingFang SC"/>
              </a:rPr>
              <a:t>国内最早落地 Palantir FDE 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97180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7A99"/>
                </a:solidFill>
                <a:latin typeface="PingFang SC"/>
              </a:rPr>
              <a:t>工程师把客户业务流程拆解成 Agent 的标准动作。我们是国内最早跑这套的，一起来探索方法论。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011680"/>
            <a:ext cx="2743200" cy="1874519"/>
          </a:xfrm>
          <a:prstGeom prst="roundRect">
            <a:avLst>
              <a:gd name="adj" fmla="val 5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2011680"/>
            <a:ext cx="54864" cy="1874519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194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C28B"/>
                </a:solidFill>
                <a:latin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217627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AI 销售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5603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1">
                <a:solidFill>
                  <a:srgbClr val="00C28B"/>
                </a:solidFill>
                <a:latin typeface="PingFang SC"/>
              </a:rPr>
              <a:t>销售也要练「咨询力」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297180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7A99"/>
                </a:solidFill>
                <a:latin typeface="PingFang SC"/>
              </a:rPr>
              <a:t>不是传统跟单。先帮客户做业务咨询、拆解问题、出方案——FDE 思路用在 GTM。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9992" y="2011680"/>
            <a:ext cx="2743200" cy="1874519"/>
          </a:xfrm>
          <a:prstGeom prst="roundRect">
            <a:avLst>
              <a:gd name="adj" fmla="val 5000"/>
            </a:avLst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9992" y="2011680"/>
            <a:ext cx="54864" cy="1874519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194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8B5CF6"/>
                </a:solidFill>
                <a:latin typeface="Helvetica Neue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72" y="217627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市场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5603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1">
                <a:solidFill>
                  <a:srgbClr val="8B5CF6"/>
                </a:solidFill>
                <a:latin typeface="PingFang SC"/>
              </a:rPr>
              <a:t>新品类如何被快速理解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97180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7A99"/>
                </a:solidFill>
                <a:latin typeface="PingFang SC"/>
              </a:rPr>
              <a:t>「AI 员工」不是 SaaS，不是 PaaS。市场叙事和定价逻辑，我们在从头设计。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77639"/>
            <a:ext cx="2743200" cy="1874519"/>
          </a:xfrm>
          <a:prstGeom prst="roundRect">
            <a:avLst>
              <a:gd name="adj" fmla="val 5000"/>
            </a:avLst>
          </a:prstGeom>
          <a:solidFill>
            <a:srgbClr val="D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977639"/>
            <a:ext cx="54864" cy="1874519"/>
          </a:xfrm>
          <a:prstGeom prst="rect">
            <a:avLst/>
          </a:prstGeom>
          <a:solidFill>
            <a:srgbClr val="00A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6051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AFA5"/>
                </a:solidFill>
                <a:latin typeface="Helvetica Neue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142231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测试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52627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1">
                <a:solidFill>
                  <a:srgbClr val="00AFA5"/>
                </a:solidFill>
                <a:latin typeface="PingFang SC"/>
              </a:rPr>
              <a:t>Agent 的「考核」怎么做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937759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7A99"/>
                </a:solidFill>
                <a:latin typeface="PingFang SC"/>
              </a:rPr>
              <a:t>对话型产品的回归测试，跟传统 SaaS 完全不是一回事。如何在持续部署中保证质量。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2424" y="3977639"/>
            <a:ext cx="2743200" cy="1874519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92424" y="3977639"/>
            <a:ext cx="54864" cy="1874519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93592" y="416051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Helvetica Neue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32504" y="4142231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运维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93592" y="452627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1">
                <a:solidFill>
                  <a:srgbClr val="1659E5"/>
                </a:solidFill>
                <a:latin typeface="PingFang SC"/>
              </a:rPr>
              <a:t>上岗后怎么保证每天都靠谱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3592" y="4937759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7A99"/>
                </a:solidFill>
                <a:latin typeface="PingFang SC"/>
              </a:rPr>
              <a:t>7×24 监控、异常熔断、置信度告警——AI 员工的「值班」体系。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6208" y="3977639"/>
            <a:ext cx="2743200" cy="1874519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6208" y="3977639"/>
            <a:ext cx="54864" cy="1874519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416051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Helvetica Neue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8" y="4142231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AI 管培生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7376" y="452627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1">
                <a:solidFill>
                  <a:srgbClr val="FF7A00"/>
                </a:solidFill>
                <a:latin typeface="PingFang SC"/>
              </a:rPr>
              <a:t>怎么干 AI 原生的活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7376" y="4937759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7A99"/>
                </a:solidFill>
                <a:latin typeface="PingFang SC"/>
              </a:rPr>
              <a:t>不是教你用 AI——是让你直接成为 AI 原生组织里的人。这套养成体系，业内还没有。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79992" y="3977639"/>
            <a:ext cx="2743200" cy="1874519"/>
          </a:xfrm>
          <a:prstGeom prst="roundRect">
            <a:avLst>
              <a:gd name="adj" fmla="val 5000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429767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</a:rPr>
              <a:t>…以及更多还在被定义的题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484631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FFFFF"/>
                </a:solidFill>
                <a:latin typeface="PingFang SC"/>
              </a:rPr>
              <a:t>每一个，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51206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都在等一个对的人。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548639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1">
                <a:solidFill>
                  <a:srgbClr val="FFFFFF"/>
                </a:solidFill>
                <a:latin typeface="PingFang SC"/>
              </a:rPr>
              <a:t>如果这里有一道题让你停了一下——分享后来找我。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WE ARE HIRING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毕业就创业，不一定是最佳选择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B7A99"/>
                </a:solidFill>
                <a:latin typeface="PingFang SC"/>
              </a:rPr>
              <a:t>如果想体验创业，也可以加入一家正在重新发明组织的早期公司。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864" cy="233172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1659E5"/>
                </a:solidFill>
                <a:latin typeface="PingFang SC"/>
              </a:rPr>
              <a:t>字节跳动创始人  ·  张一鸣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52120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 i="1">
                <a:solidFill>
                  <a:srgbClr val="1A1A2E"/>
                </a:solidFill>
                <a:latin typeface="PingFang SC"/>
              </a:rPr>
              <a:t>加入一个优秀的早期公司有一个明显的好处——</a:t>
            </a:r>
          </a:p>
          <a:p>
            <a:pPr algn="l">
              <a:lnSpc>
                <a:spcPct val="155000"/>
              </a:lnSpc>
            </a:pPr>
            <a:r>
              <a:rPr sz="1250" b="0" i="1">
                <a:solidFill>
                  <a:srgbClr val="1A1A2E"/>
                </a:solidFill>
                <a:latin typeface="PingFang SC"/>
              </a:rPr>
              <a:t>公司会想尽办法帮你提高，因为公司有很多事情要做，</a:t>
            </a:r>
          </a:p>
          <a:p>
            <a:pPr algn="l">
              <a:lnSpc>
                <a:spcPct val="155000"/>
              </a:lnSpc>
            </a:pPr>
            <a:r>
              <a:rPr sz="1250" b="0" i="1">
                <a:solidFill>
                  <a:srgbClr val="1A1A2E"/>
                </a:solidFill>
                <a:latin typeface="PingFang SC"/>
              </a:rPr>
              <a:t>而人员又有限。这个时候就会对有潜质的人提出各种</a:t>
            </a:r>
          </a:p>
          <a:p>
            <a:pPr algn="l">
              <a:lnSpc>
                <a:spcPct val="155000"/>
              </a:lnSpc>
            </a:pPr>
            <a:r>
              <a:rPr sz="1250" b="0" i="1">
                <a:solidFill>
                  <a:srgbClr val="1A1A2E"/>
                </a:solidFill>
                <a:latin typeface="PingFang SC"/>
              </a:rPr>
              <a:t>高的要求，帮助提高。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1">
                <a:solidFill>
                  <a:srgbClr val="1659E5"/>
                </a:solidFill>
                <a:latin typeface="PingFang SC"/>
              </a:rPr>
              <a:t>「用心认真的折腾，是没有风险的。」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920240"/>
            <a:ext cx="54864" cy="2331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8483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在句子互动，你能拿到什么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2120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1">
                <a:solidFill>
                  <a:srgbClr val="1A1A2E"/>
                </a:solidFill>
                <a:latin typeface="PingFang SC"/>
              </a:rPr>
              <a:t>·  无限量 token——爱怎么烧怎么烧</a:t>
            </a:r>
          </a:p>
          <a:p>
            <a:pPr algn="l">
              <a:lnSpc>
                <a:spcPct val="170000"/>
              </a:lnSpc>
            </a:pPr>
            <a:r>
              <a:rPr sz="1300" b="1">
                <a:solidFill>
                  <a:srgbClr val="1A1A2E"/>
                </a:solidFill>
                <a:latin typeface="PingFang SC"/>
              </a:rPr>
              <a:t>·  发给你 Claude Code 最适配的 MacBook Pro</a:t>
            </a:r>
          </a:p>
          <a:p>
            <a:pPr algn="l">
              <a:lnSpc>
                <a:spcPct val="170000"/>
              </a:lnSpc>
            </a:pPr>
            <a:r>
              <a:rPr sz="1300" b="1">
                <a:solidFill>
                  <a:srgbClr val="1A1A2E"/>
                </a:solidFill>
                <a:latin typeface="PingFang SC"/>
              </a:rPr>
              <a:t>·  两周一次 AI Workshop——所有人一起拆最新模型</a:t>
            </a:r>
          </a:p>
          <a:p>
            <a:pPr algn="l">
              <a:lnSpc>
                <a:spcPct val="170000"/>
              </a:lnSpc>
            </a:pPr>
            <a:r>
              <a:rPr sz="1300" b="1">
                <a:solidFill>
                  <a:srgbClr val="1A1A2E"/>
                </a:solidFill>
                <a:latin typeface="PingFang SC"/>
              </a:rPr>
              <a:t>·  我自己每天先跑——我跑出什么，你立刻能用</a:t>
            </a:r>
          </a:p>
          <a:p>
            <a:pPr algn="l">
              <a:lnSpc>
                <a:spcPct val="170000"/>
              </a:lnSpc>
            </a:pPr>
            <a:r>
              <a:rPr sz="1300" b="1">
                <a:solidFill>
                  <a:srgbClr val="1A1A2E"/>
                </a:solidFill>
                <a:latin typeface="PingFang SC"/>
              </a:rPr>
              <a:t>·  永远走在 AI 最前沿，没有第二个选择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我们正在招 ——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4632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54864" cy="9144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产品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9696" y="484632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39696" y="4846320"/>
            <a:ext cx="54864" cy="9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9696" y="484632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FDE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30752" y="484632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30752" y="4846320"/>
            <a:ext cx="54864" cy="9144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484632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AI 销售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21808" y="484632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21808" y="4846320"/>
            <a:ext cx="54864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21808" y="484632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市场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12864" y="484632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D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12864" y="4846320"/>
            <a:ext cx="54864" cy="914400"/>
          </a:xfrm>
          <a:prstGeom prst="rect">
            <a:avLst/>
          </a:prstGeom>
          <a:solidFill>
            <a:srgbClr val="00A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864" y="484632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测试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484632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3920" y="4846320"/>
            <a:ext cx="54864" cy="9144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84632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运维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94976" y="484632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94976" y="4846320"/>
            <a:ext cx="54864" cy="9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94976" y="484632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AI 管培生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943600"/>
            <a:ext cx="11091672" cy="457200"/>
          </a:xfrm>
          <a:prstGeom prst="roundRect">
            <a:avLst>
              <a:gd name="adj" fmla="val 5000"/>
            </a:avLst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0350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</a:rPr>
              <a:t>如果今天讲到的某一个瞬间让你心动——分享后来找我。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5653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Helvetica Neue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THE END  ·  NOT 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A1A2E"/>
                </a:solidFill>
                <a:latin typeface="PingFang SC"/>
              </a:rPr>
              <a:t>组织，正在被重新发明。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1659E5"/>
                </a:solidFill>
                <a:latin typeface="PingFang SC"/>
              </a:rPr>
              <a:t>而你——可以是发明者之一。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4327" y="3017520"/>
            <a:ext cx="1463040" cy="381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 i="0">
                <a:solidFill>
                  <a:srgbClr val="1A1A2E"/>
                </a:solidFill>
                <a:latin typeface="PingFang SC"/>
              </a:rPr>
              <a:t>李佳芮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B7A99"/>
                </a:solidFill>
                <a:latin typeface="PingFang SC"/>
              </a:rPr>
              <a:t>句子互动  ·  创始人 &amp; CEO  ·  www.juzibot.com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1" i="0">
                <a:solidFill>
                  <a:srgbClr val="FF7A00"/>
                </a:solidFill>
                <a:latin typeface="PingFang SC"/>
              </a:rPr>
              <a:t>分享后扫码加我微信  ↓</a:t>
            </a:r>
          </a:p>
        </p:txBody>
      </p:sp>
      <p:pic>
        <p:nvPicPr>
          <p:cNvPr id="10" name="Picture 9" descr="grace-wechat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45262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