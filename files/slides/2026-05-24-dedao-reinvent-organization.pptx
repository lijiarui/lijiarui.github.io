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4389120"/>
            <a:ext cx="4873752" cy="24688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FFFF"/>
                </a:solidFill>
                <a:latin typeface="PingFang SC"/>
              </a:rPr>
              <a:t>句子互动  JuziBot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8F0FF"/>
                </a:solidFill>
                <a:latin typeface="PingFang SC"/>
              </a:rPr>
              <a:t>得到  ·  现场分享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5200" b="1" i="0">
                <a:solidFill>
                  <a:srgbClr val="FFFFFF"/>
                </a:solidFill>
                <a:latin typeface="PingFang SC"/>
              </a:rPr>
              <a:t>AI 时代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7600" b="1" i="0">
                <a:solidFill>
                  <a:srgbClr val="FFFFFF"/>
                </a:solidFill>
                <a:latin typeface="PingFang SC"/>
              </a:rPr>
              <a:t>重新发明组织。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17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FFFFFF"/>
                </a:solidFill>
                <a:latin typeface="PingFang SC"/>
              </a:rPr>
              <a:t>让每家小公司，也用得起大公司的人力。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15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FFFF"/>
                </a:solidFill>
                <a:latin typeface="PingFang SC"/>
              </a:rPr>
              <a:t>李佳芮  ·  句子互动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80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8F0FF"/>
                </a:solidFill>
                <a:latin typeface="PingFang SC"/>
              </a:rPr>
              <a:t>2026  ·  得到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00  ·  开场前 30 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我是谁，我在干什么。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讲之前先报个家门——后面所有案例都从这家公司里来。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600" b="1" i="0">
                <a:solidFill>
                  <a:srgbClr val="1659E5"/>
                </a:solidFill>
                <a:latin typeface="PingFang SC"/>
              </a:rPr>
              <a:t>李佳芮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A2E"/>
                </a:solidFill>
                <a:latin typeface="PingFang SC"/>
              </a:rPr>
              <a:t>句子互动  创始人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68580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2E"/>
                </a:solidFill>
                <a:latin typeface="PingFang SC"/>
              </a:rPr>
              <a:t>·  2016 年发起 Wechaty 开源项目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6B7A99"/>
                </a:solidFill>
                <a:latin typeface="PingFang SC"/>
              </a:rPr>
              <a:t>    全球最大对话自动化框架之一，超 22k GitHub Stars。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2E"/>
                </a:solidFill>
                <a:latin typeface="PingFang SC"/>
              </a:rPr>
              <a:t>·  2019 年成立句子互动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6B7A99"/>
                </a:solidFill>
                <a:latin typeface="PingFang SC"/>
              </a:rPr>
              <a:t>    给企业部署 AI 员工。今天 1000+ 企业客户，4 年连续盈利。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2E"/>
                </a:solidFill>
                <a:latin typeface="PingFang SC"/>
              </a:rPr>
              <a:t>·  Microsoft AI MVP  ·  《Chatbot 从 0 到 1》作者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6B7A99"/>
                </a:solidFill>
                <a:latin typeface="PingFang SC"/>
              </a:rPr>
              <a:t>    AI 这件事，我从 2016 年起赌到现在。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194560"/>
            <a:ext cx="4023360" cy="4206240"/>
          </a:xfrm>
          <a:prstGeom prst="roundRect">
            <a:avLst>
              <a:gd name="adj" fmla="val 4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2194560"/>
            <a:ext cx="54864" cy="420624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3317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FF7A00"/>
                </a:solidFill>
                <a:latin typeface="PingFang SC"/>
              </a:rPr>
              <a:t>今天讲三件事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9718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7A00"/>
                </a:solidFill>
                <a:latin typeface="PingFang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0175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AI 时代组织的 4 个判断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886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7A00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9319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怎么用 AI：分活、定义、验收 3 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8006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7A00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8463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AI 进来后，组织怎么管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01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6B7A99"/>
                </a:solidFill>
                <a:latin typeface="PingFang SC"/>
              </a:rPr>
              <a:t>在开始之前，先问个问题——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4400" b="0" i="0">
                <a:solidFill>
                  <a:srgbClr val="1A1A2E"/>
                </a:solidFill>
                <a:latin typeface="PingFang SC"/>
              </a:rPr>
              <a:t>你公司现在，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9728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400" b="1" i="0">
                <a:solidFill>
                  <a:srgbClr val="1659E5"/>
                </a:solidFill>
                <a:latin typeface="PingFang SC"/>
              </a:rPr>
              <a:t>有几个员工？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6B7A99"/>
                </a:solidFill>
                <a:latin typeface="PingFang SC"/>
              </a:rPr>
              <a:t>—— 心里报个数。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02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" cy="50292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E8F0FF"/>
                </a:solidFill>
                <a:latin typeface="PingFang SC"/>
              </a:rPr>
              <a:t>再 问 一 次 ——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4400" b="0" i="0">
                <a:solidFill>
                  <a:srgbClr val="FFFFFF"/>
                </a:solidFill>
                <a:latin typeface="PingFang SC"/>
              </a:rPr>
              <a:t>把 AI 算上，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9728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400" b="1" i="0">
                <a:solidFill>
                  <a:srgbClr val="FF7A00"/>
                </a:solidFill>
                <a:latin typeface="PingFang SC"/>
              </a:rPr>
              <a:t>你有几个员工？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FFFFF"/>
                </a:solidFill>
                <a:latin typeface="PingFang SC"/>
              </a:rPr>
              <a:t>—— 这才是 AI 时代「重新发明组织」的起点。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03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我 一 个 人  ·  我的 AI 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这一周，AI 替我把 6 个岗位的活干完了。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下面这些不是 demo。是我作为 CEO 本周本人产出 ——  一个人 +  一台 AI 工作台。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657600" cy="1755648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" cy="1755648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659E5"/>
                </a:solidFill>
                <a:latin typeface="PingFang SC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305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PPT 设计师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0312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1" i="0">
                <a:solidFill>
                  <a:srgbClr val="1659E5"/>
                </a:solidFill>
                <a:latin typeface="PingFang SC"/>
              </a:rPr>
              <a:t>3 份 PPT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78608"/>
            <a:ext cx="3291840" cy="635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70048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1A1A2E"/>
                </a:solidFill>
                <a:latin typeface="PingFang SC"/>
              </a:rPr>
              <a:t>·  各种对外分享 PPT
·  公司专用介绍 deck
·  客户定制方案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472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1">
                <a:solidFill>
                  <a:srgbClr val="6B7A99"/>
                </a:solidFill>
                <a:latin typeface="PingFang SC"/>
              </a:rPr>
              <a:t>原岗位：设计 + 商务 BD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011680"/>
            <a:ext cx="3657600" cy="1755648"/>
          </a:xfrm>
          <a:prstGeom prst="roundRect">
            <a:avLst>
              <a:gd name="adj" fmla="val 4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011680"/>
            <a:ext cx="54864" cy="175564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21031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FF7A00"/>
                </a:solidFill>
                <a:latin typeface="PingFang S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21305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前端工程师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210312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1" i="0">
                <a:solidFill>
                  <a:srgbClr val="FF7A00"/>
                </a:solidFill>
                <a:latin typeface="PingFang SC"/>
              </a:rPr>
              <a:t>1 版官网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07992" y="2578608"/>
            <a:ext cx="3291840" cy="635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2670048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1A1A2E"/>
                </a:solidFill>
                <a:latin typeface="PingFang SC"/>
              </a:rPr>
              <a:t>·  juzibot.com 新版上线
·  AI 写前端 + 文案 + 配图
·  没设计稿，我带 AI 3 天上线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34472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1">
                <a:solidFill>
                  <a:srgbClr val="6B7A99"/>
                </a:solidFill>
                <a:latin typeface="PingFang SC"/>
              </a:rPr>
              <a:t>原岗位：前端 + UI + 文案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4" y="2011680"/>
            <a:ext cx="3657600" cy="1755648"/>
          </a:xfrm>
          <a:prstGeom prst="roundRect">
            <a:avLst>
              <a:gd name="adj" fmla="val 4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01584" y="2011680"/>
            <a:ext cx="54864" cy="1755648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21031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00C28B"/>
                </a:solidFill>
                <a:latin typeface="PingFang SC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41664" y="21305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产品经理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9024" y="210312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1" i="0">
                <a:solidFill>
                  <a:srgbClr val="00C28B"/>
                </a:solidFill>
                <a:latin typeface="PingFang SC"/>
              </a:rPr>
              <a:t>4 个原型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84464" y="2578608"/>
            <a:ext cx="3291840" cy="635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4" y="2670048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1A1A2E"/>
                </a:solidFill>
                <a:latin typeface="PingFang SC"/>
              </a:rPr>
              <a:t>·  画白板讲清楚 → AI 出原型
·  PRD 一并起草
·  飞书直接发给研发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34472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1">
                <a:solidFill>
                  <a:srgbClr val="6B7A99"/>
                </a:solidFill>
                <a:latin typeface="PingFang SC"/>
              </a:rPr>
              <a:t>原岗位：PM + 交互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77056"/>
            <a:ext cx="3657600" cy="1755648"/>
          </a:xfrm>
          <a:prstGeom prst="roundRect">
            <a:avLst>
              <a:gd name="adj" fmla="val 4000"/>
            </a:avLst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877056"/>
            <a:ext cx="54864" cy="17556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9684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8B5CF6"/>
                </a:solidFill>
                <a:latin typeface="PingFang SC"/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9959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博客主理人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3968496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1" i="0">
                <a:solidFill>
                  <a:srgbClr val="8B5CF6"/>
                </a:solidFill>
                <a:latin typeface="PingFang SC"/>
              </a:rPr>
              <a:t>全 AI 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443984"/>
            <a:ext cx="3291840" cy="63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535424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1A1A2E"/>
                </a:solidFill>
                <a:latin typeface="PingFang SC"/>
              </a:rPr>
              <a:t>·  我只管写，AI 排版、配图、生成 SEO
·  连建站脚本都是 AI 写的
·  一条命令上线 rui.juzi.bot（123 篇全这么发）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3126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1">
                <a:solidFill>
                  <a:srgbClr val="6B7A99"/>
                </a:solidFill>
                <a:latin typeface="PingFang SC"/>
              </a:rPr>
              <a:t>原岗位：编辑 + 排版 + 站长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5112" y="3877056"/>
            <a:ext cx="3657600" cy="1755648"/>
          </a:xfrm>
          <a:prstGeom prst="roundRect">
            <a:avLst>
              <a:gd name="adj" fmla="val 4000"/>
            </a:avLst>
          </a:prstGeom>
          <a:solidFill>
            <a:srgbClr val="D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25112" y="3877056"/>
            <a:ext cx="54864" cy="1755648"/>
          </a:xfrm>
          <a:prstGeom prst="rect">
            <a:avLst/>
          </a:prstGeom>
          <a:solidFill>
            <a:srgbClr val="00A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07992" y="39684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00AFA5"/>
                </a:solidFill>
                <a:latin typeface="PingFang SC"/>
              </a:rPr>
              <a:t>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65192" y="39959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数据分析师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02552" y="3968496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1" i="0">
                <a:solidFill>
                  <a:srgbClr val="00AFA5"/>
                </a:solidFill>
                <a:latin typeface="PingFang SC"/>
              </a:rPr>
              <a:t>5 张表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07992" y="4443984"/>
            <a:ext cx="3291840" cy="6350"/>
          </a:xfrm>
          <a:prstGeom prst="rect">
            <a:avLst/>
          </a:prstGeom>
          <a:solidFill>
            <a:srgbClr val="00A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07992" y="4535424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1A1A2E"/>
                </a:solidFill>
                <a:latin typeface="PingFang SC"/>
              </a:rPr>
              <a:t>·  客户分行业 / 阶段分布
·  销售漏斗 + 续约率
·  飞书表 → AI 直接出图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07992" y="53126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1">
                <a:solidFill>
                  <a:srgbClr val="6B7A99"/>
                </a:solidFill>
                <a:latin typeface="PingFang SC"/>
              </a:rPr>
              <a:t>原岗位：数据 + BI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01584" y="3877056"/>
            <a:ext cx="3657600" cy="1755648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01584" y="3877056"/>
            <a:ext cx="54864" cy="1755648"/>
          </a:xfrm>
          <a:prstGeom prst="rect">
            <a:avLst/>
          </a:prstGeom>
          <a:solidFill>
            <a:srgbClr val="3D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84464" y="39684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3D7FFF"/>
                </a:solidFill>
                <a:latin typeface="PingFang SC"/>
              </a:rPr>
              <a:t>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1664" y="39959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销售运营官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9024" y="3968496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1" i="0">
                <a:solidFill>
                  <a:srgbClr val="3D7FFF"/>
                </a:solidFill>
                <a:latin typeface="PingFang SC"/>
              </a:rPr>
              <a:t>1 套定价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84464" y="4443984"/>
            <a:ext cx="3291840" cy="6350"/>
          </a:xfrm>
          <a:prstGeom prst="rect">
            <a:avLst/>
          </a:prstGeom>
          <a:solidFill>
            <a:srgbClr val="3D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4464" y="4535424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1A1A2E"/>
                </a:solidFill>
                <a:latin typeface="PingFang SC"/>
              </a:rPr>
              <a:t>·  整理全公司标准定价 + 报价单
·  教育档 / 非教育档 / 按结果分层
·  AI 起草 → 我改两笔 → 销售上手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4464" y="53126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1">
                <a:solidFill>
                  <a:srgbClr val="6B7A99"/>
                </a:solidFill>
                <a:latin typeface="PingFang SC"/>
              </a:rPr>
              <a:t>原岗位：销售 ops + FP&amp;A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687568"/>
            <a:ext cx="11091672" cy="1905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779008"/>
            <a:ext cx="1188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这周我没招新人 ——  6 个岗位的活，AI 已经替我干完了。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144768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7A99"/>
                </a:solidFill>
                <a:latin typeface="PingFang SC"/>
              </a:rPr>
              <a:t>这套 AI 工作台，我自己先用了一年。客户拿到的，是同一套。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04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我 们 自 己  ·  内 部 AI 同 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这不止我一个 ——  整家公司，AI 同事已经上岗。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秒回 / 秒懂 / 守护 / 参谋 / 智造  是我们的产品基建。  下面这几个，是我们自己拿这套基建在公司内部「招」出来的 AI 同事。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157984" cy="1874519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4864" cy="1874519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21992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1659E5"/>
                </a:solidFill>
                <a:latin typeface="PingFang SC"/>
              </a:rPr>
              <a:t>秒  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2E"/>
                </a:solidFill>
                <a:latin typeface="PingFang SC"/>
              </a:rPr>
              <a:t>合同审核员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063240"/>
            <a:ext cx="1883664" cy="635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63824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1 天 → 2 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47872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6B7A99"/>
                </a:solidFill>
                <a:latin typeface="PingFang SC"/>
              </a:rPr>
              <a:t>公司合同，都它先审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2103120"/>
            <a:ext cx="2157984" cy="1874519"/>
          </a:xfrm>
          <a:prstGeom prst="roundRect">
            <a:avLst>
              <a:gd name="adj" fmla="val 4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0632" y="2103120"/>
            <a:ext cx="54864" cy="1874519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2" y="2221992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00C28B"/>
                </a:solidFill>
                <a:latin typeface="PingFang SC"/>
              </a:rPr>
              <a:t>AI  SDR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265176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2E"/>
                </a:solidFill>
                <a:latin typeface="PingFang SC"/>
              </a:rPr>
              <a:t>线索初筛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07792" y="3063240"/>
            <a:ext cx="1883664" cy="635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7792" y="3163824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替销售筛客户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7792" y="3547872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6B7A99"/>
                </a:solidFill>
                <a:latin typeface="PingFang SC"/>
              </a:rPr>
              <a:t>自动挑出有意向的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92624" y="2103120"/>
            <a:ext cx="2157984" cy="1874519"/>
          </a:xfrm>
          <a:prstGeom prst="roundRect">
            <a:avLst>
              <a:gd name="adj" fmla="val 4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92624" y="2103120"/>
            <a:ext cx="54864" cy="1874519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9784" y="2221992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FF7A00"/>
                </a:solidFill>
                <a:latin typeface="PingFang SC"/>
              </a:rPr>
              <a:t>跟单小二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65176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2E"/>
                </a:solidFill>
                <a:latin typeface="PingFang SC"/>
              </a:rPr>
              <a:t>销售跟单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9784" y="3063240"/>
            <a:ext cx="1883664" cy="635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9784" y="3163824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销售都在用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9784" y="3547872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6B7A99"/>
                </a:solidFill>
                <a:latin typeface="PingFang SC"/>
              </a:rPr>
              <a:t>拜访录音 → 纪要 → CRM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14616" y="2103120"/>
            <a:ext cx="2157984" cy="1874519"/>
          </a:xfrm>
          <a:prstGeom prst="roundRect">
            <a:avLst>
              <a:gd name="adj" fmla="val 4000"/>
            </a:avLst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14616" y="2103120"/>
            <a:ext cx="54864" cy="1874519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6" y="2221992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8B5CF6"/>
                </a:solidFill>
                <a:latin typeface="PingFang SC"/>
              </a:rPr>
              <a:t>情报局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1776" y="265176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2E"/>
                </a:solidFill>
                <a:latin typeface="PingFang SC"/>
              </a:rPr>
              <a:t>行业情报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51776" y="3063240"/>
            <a:ext cx="1883664" cy="63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51776" y="3163824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每天一份情报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1776" y="3547872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6B7A99"/>
                </a:solidFill>
                <a:latin typeface="PingFang SC"/>
              </a:rPr>
              <a:t>自动抓信息，每早推群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6608" y="2103120"/>
            <a:ext cx="2157984" cy="1874519"/>
          </a:xfrm>
          <a:prstGeom prst="roundRect">
            <a:avLst>
              <a:gd name="adj" fmla="val 4000"/>
            </a:avLst>
          </a:prstGeom>
          <a:solidFill>
            <a:srgbClr val="D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8" y="2103120"/>
            <a:ext cx="54864" cy="1874519"/>
          </a:xfrm>
          <a:prstGeom prst="rect">
            <a:avLst/>
          </a:prstGeom>
          <a:solidFill>
            <a:srgbClr val="00A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3768" y="2221992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00AFA5"/>
                </a:solidFill>
                <a:latin typeface="PingFang SC"/>
              </a:rPr>
              <a:t>小畅同学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3768" y="265176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2E"/>
                </a:solidFill>
                <a:latin typeface="PingFang SC"/>
              </a:rPr>
              <a:t>产品答疑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73768" y="3063240"/>
            <a:ext cx="1883664" cy="6350"/>
          </a:xfrm>
          <a:prstGeom prst="rect">
            <a:avLst/>
          </a:prstGeom>
          <a:solidFill>
            <a:srgbClr val="00A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73768" y="3163824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答疑不找研发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73768" y="3547872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6B7A99"/>
                </a:solidFill>
                <a:latin typeface="PingFang SC"/>
              </a:rPr>
              <a:t>读完代码，自己写说明书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114800"/>
            <a:ext cx="11091672" cy="2240280"/>
          </a:xfrm>
          <a:prstGeom prst="roundRect">
            <a:avLst>
              <a:gd name="adj" fmla="val 3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114800"/>
            <a:ext cx="128016" cy="22402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68680" y="4343400"/>
            <a:ext cx="3657600" cy="457200"/>
          </a:xfrm>
          <a:prstGeom prst="roundRect">
            <a:avLst>
              <a:gd name="adj" fmla="val 40000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3434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1" i="0">
                <a:solidFill>
                  <a:srgbClr val="FFFFFF"/>
                </a:solidFill>
                <a:latin typeface="PingFang SC"/>
              </a:rPr>
              <a:t>HACKATHON  ·  2026-04-19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438912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7A99"/>
                </a:solidFill>
                <a:latin typeface="PingFang SC"/>
              </a:rPr>
              <a:t>10 支队伍  ·  全员参赛  ·  办答辩 → 上岗已成常态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4956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 i="0">
                <a:solidFill>
                  <a:srgbClr val="1A1A2E"/>
                </a:solidFill>
                <a:latin typeface="PingFang SC"/>
              </a:rPr>
              <a:t>这些 AI 同事，周日 demo，周一就上岗。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59612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A1A2E"/>
                </a:solidFill>
                <a:latin typeface="PingFang SC"/>
              </a:rPr>
              <a:t>·  「干就完了队」做的「秒审」，48 小时就上线。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9253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7A99"/>
                </a:solidFill>
                <a:latin typeface="PingFang SC"/>
              </a:rPr>
              <a:t>周一财务就把人工合同初审岗换成它。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5961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A1A2E"/>
                </a:solidFill>
                <a:latin typeface="PingFang SC"/>
              </a:rPr>
              <a:t>·  这场 hackathon 本身，也是 AI 干的。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92531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7A99"/>
                </a:solidFill>
                <a:latin typeface="PingFang SC"/>
              </a:rPr>
              <a:t>入场解说、海报、兑换券，全是 AI 写、AI 排。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05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4572000"/>
            <a:ext cx="4873752" cy="228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FFFFF"/>
                </a:solidFill>
                <a:latin typeface="PingFang SC"/>
              </a:rPr>
              <a:t>PART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FFFFF"/>
                </a:solidFill>
                <a:latin typeface="PingFang SC"/>
              </a:rPr>
              <a:t>FOUR JUDGMENTS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972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6600" b="1" i="0">
                <a:solidFill>
                  <a:srgbClr val="FFFFFF"/>
                </a:solidFill>
                <a:latin typeface="PingFang SC"/>
              </a:rPr>
              <a:t>AI 时代组织的 4 个判断。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FFFFF"/>
                </a:solidFill>
                <a:latin typeface="PingFang SC"/>
              </a:rPr>
              <a:t>不是大厂的故事。是你这家小公司的故事。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06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FF7A00"/>
                </a:solidFill>
                <a:latin typeface="PingFang SC"/>
              </a:rPr>
              <a:t>判 断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 i="0">
                <a:solidFill>
                  <a:srgbClr val="1A1A2E"/>
                </a:solidFill>
                <a:latin typeface="PingFang SC"/>
              </a:rPr>
              <a:t>AI 不是把人裁掉，是给小公司补员。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7A99"/>
                </a:solidFill>
                <a:latin typeface="PingFang SC"/>
              </a:rPr>
              <a:t>大厂讲 AI 裁员的故事。但小公司从来没人可裁。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83664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6B7A99"/>
                </a:solidFill>
                <a:latin typeface="PingFang SC"/>
              </a:rPr>
              <a:t>媒体在讲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D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54864" cy="1828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「AI 来了，员工要下岗。」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2E"/>
                </a:solidFill>
                <a:latin typeface="PingFang SC"/>
              </a:rPr>
              <a:t>「我们裁了 30% 的人。」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7A99"/>
                </a:solidFill>
                <a:latin typeface="PingFang SC"/>
              </a:rPr>
              <a:t>—— 这是大厂的故事。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6B7A99"/>
                </a:solidFill>
                <a:latin typeface="PingFang SC"/>
              </a:rPr>
              <a:t>小公司在面对的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6060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06040"/>
            <a:ext cx="54864" cy="18288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8346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「人不够、招不到、留不住。」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429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2E"/>
                </a:solidFill>
                <a:latin typeface="PingFang SC"/>
              </a:rPr>
              <a:t>「客户的消息回不过来。」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931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7A99"/>
                </a:solidFill>
                <a:latin typeface="PingFang SC"/>
              </a:rPr>
              <a:t>—— 你没人可裁，你缺人。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11091672" cy="25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1A1A2E"/>
                </a:solidFill>
                <a:latin typeface="PingFang SC"/>
              </a:rPr>
              <a:t>AI 在小公司里干的活，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11887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400" b="1" i="0">
                <a:solidFill>
                  <a:srgbClr val="FF7A00"/>
                </a:solidFill>
                <a:latin typeface="PingFang SC"/>
              </a:rPr>
              <a:t>是把你招不来、留不住的那种员工，补回来。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07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微案例 ①  ·  连锁餐饮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3 家店、1 个店长、看不过来的消息流。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47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852160" cy="420624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4864" cy="420624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659E5"/>
                </a:solidFill>
                <a:latin typeface="PingFang SC"/>
              </a:rPr>
              <a:t>之前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1A1A2E"/>
                </a:solidFill>
                <a:latin typeface="PingFang SC"/>
              </a:rPr>
              <a:t>一个店长要同时盯：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3 家店的企业微信群（5-8 个群）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美团差评和咨询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抖音留言和私信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小红书评论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2E"/>
                </a:solidFill>
                <a:latin typeface="PingFang SC"/>
              </a:rPr>
              <a:t>·  会员日 / 活动通知的群发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778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E53E3E"/>
                </a:solidFill>
                <a:latin typeface="PingFang SC"/>
              </a:rPr>
              <a:t>结果：消息漏回率 ~ 35%，客户投诉。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10312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2103120"/>
            <a:ext cx="54864" cy="420624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FF7A00"/>
                </a:solidFill>
                <a:latin typeface="PingFang SC"/>
              </a:rPr>
              <a:t>上 AI 之后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6517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1 个店长 +  AI 工位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2918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 i="0">
                <a:solidFill>
                  <a:srgbClr val="FF7A00"/>
                </a:solidFill>
                <a:latin typeface="PingFang SC"/>
              </a:rP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383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消息 AI 先回完一遍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005072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 i="0">
                <a:solidFill>
                  <a:srgbClr val="FF7A00"/>
                </a:solidFill>
                <a:latin typeface="PingFang SC"/>
              </a:rPr>
              <a:t>3×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09651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1 个店长能看的店数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718304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 i="0">
                <a:solidFill>
                  <a:srgbClr val="FF7A00"/>
                </a:solidFill>
                <a:latin typeface="PingFang SC"/>
              </a:rPr>
              <a:t>&lt; 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0974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漏回率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5431536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 i="0">
                <a:solidFill>
                  <a:srgbClr val="FF7A00"/>
                </a:solidFill>
                <a:latin typeface="PingFang SC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52297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新招客服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08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FF7A00"/>
                </a:solidFill>
                <a:latin typeface="PingFang SC"/>
              </a:rPr>
              <a:t>判 断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 i="0">
                <a:solidFill>
                  <a:srgbClr val="1A1A2E"/>
                </a:solidFill>
                <a:latin typeface="PingFang SC"/>
              </a:rPr>
              <a:t>你要的不是一个 AI 软件 ——  是有人把活，直接给你干完。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7A99"/>
                </a:solidFill>
                <a:latin typeface="PingFang SC"/>
              </a:rPr>
              <a:t>买工具，活还得你自己干。你真正要的是结果：活干完了，钱才付。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83664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6B7A99"/>
                </a:solidFill>
                <a:latin typeface="PingFang SC"/>
              </a:rPr>
              <a:t>大家以为 ·  很多人卖你的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5440680" cy="32918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54864" cy="3291840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 i="0">
                <a:solidFill>
                  <a:srgbClr val="6B7A99"/>
                </a:solidFill>
                <a:latin typeface="PingFang SC"/>
              </a:rPr>
              <a:t>一套 AI 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>
                <a:solidFill>
                  <a:srgbClr val="1A1A2E"/>
                </a:solidFill>
                <a:latin typeface="PingFang SC"/>
              </a:rPr>
              <a:t>·  给你一个 AI，怎么用、用得好不好 ——  你自己负责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1A1A2E"/>
                </a:solidFill>
                <a:latin typeface="PingFang SC"/>
              </a:rPr>
              <a:t>·  好比花 1 万买套财务软件，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1A1A2E"/>
                </a:solidFill>
                <a:latin typeface="PingFang SC"/>
              </a:rPr>
              <a:t>    还得自己花 12 万请个会计来结账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1A1A2E"/>
                </a:solidFill>
                <a:latin typeface="PingFang SC"/>
              </a:rPr>
              <a:t>·  工具买了，活还得你自己干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FF7A00"/>
                </a:solidFill>
                <a:latin typeface="PingFang SC"/>
              </a:rPr>
              <a:t>你其实需要的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14600"/>
            <a:ext cx="5239512" cy="3291840"/>
          </a:xfrm>
          <a:prstGeom prst="roundRect">
            <a:avLst>
              <a:gd name="adj" fmla="val 4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514600"/>
            <a:ext cx="54864" cy="329184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69748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 i="0">
                <a:solidFill>
                  <a:srgbClr val="FF7A00"/>
                </a:solidFill>
                <a:latin typeface="PingFang SC"/>
              </a:rPr>
              <a:t>活，直接干完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383280"/>
            <a:ext cx="4846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1A1A2E"/>
                </a:solidFill>
                <a:latin typeface="PingFang SC"/>
              </a:rPr>
              <a:t>·  你说要什么结果，结果直接交付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1A1A2E"/>
                </a:solidFill>
                <a:latin typeface="PingFang SC"/>
              </a:rPr>
              <a:t>·  好比 ——  账，有人直接给你结了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1A1A2E"/>
                </a:solidFill>
                <a:latin typeface="PingFang SC"/>
              </a:rPr>
              <a:t>·  干不成，不该付钱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1A1A2E"/>
                </a:solidFill>
                <a:latin typeface="PingFang SC"/>
              </a:rPr>
              <a:t>·  AI 越升级，这件事只会更快、更便宜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89320"/>
            <a:ext cx="11091672" cy="1905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099048"/>
            <a:ext cx="1188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买工具，用不用得好全在你。买结果，干不成就不付钱。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09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FF7A00"/>
                </a:solidFill>
                <a:latin typeface="PingFang SC"/>
              </a:rPr>
              <a:t>判 断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 i="0">
                <a:solidFill>
                  <a:srgbClr val="1A1A2E"/>
                </a:solidFill>
                <a:latin typeface="PingFang SC"/>
              </a:rPr>
              <a:t>不是你盯着 AI ——  是 AI 主动来找你。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7A99"/>
                </a:solidFill>
                <a:latin typeface="PingFang SC"/>
              </a:rPr>
              <a:t>真正的人机协作：AI 把活按轻重缓急排好，该你拍板的，自动推到你面前 ——  你不用盯着它。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83664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6B7A99"/>
                </a:solidFill>
                <a:latin typeface="PingFang SC"/>
              </a:rPr>
              <a:t>大家以为的「人机协作」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5532120" cy="361188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54864" cy="3611880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52120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210000"/>
              </a:lnSpc>
            </a:pPr>
            <a:r>
              <a:rPr sz="1500" b="0">
                <a:solidFill>
                  <a:srgbClr val="1A1A2E"/>
                </a:solidFill>
                <a:latin typeface="PingFang SC"/>
              </a:rPr>
              <a:t>·  上了 AI，还得有人一直盯着</a:t>
            </a:r>
          </a:p>
          <a:p>
            <a:pPr algn="l">
              <a:lnSpc>
                <a:spcPct val="210000"/>
              </a:lnSpc>
            </a:pPr>
            <a:r>
              <a:rPr sz="1500" b="0">
                <a:solidFill>
                  <a:srgbClr val="1A1A2E"/>
                </a:solidFill>
                <a:latin typeface="PingFang SC"/>
              </a:rPr>
              <a:t>·  怕它出错，每一条都得人去检查</a:t>
            </a:r>
          </a:p>
          <a:p>
            <a:pPr algn="l">
              <a:lnSpc>
                <a:spcPct val="210000"/>
              </a:lnSpc>
            </a:pPr>
            <a:r>
              <a:rPr sz="1500" b="0">
                <a:solidFill>
                  <a:srgbClr val="1A1A2E"/>
                </a:solidFill>
                <a:latin typeface="PingFang SC"/>
              </a:rPr>
              <a:t>·  AI、CRM、表格 ——  几个系统来回切</a:t>
            </a:r>
          </a:p>
          <a:p>
            <a:pPr algn="l">
              <a:lnSpc>
                <a:spcPct val="210000"/>
              </a:lnSpc>
            </a:pPr>
            <a:r>
              <a:rPr sz="1500" b="0">
                <a:solidFill>
                  <a:srgbClr val="1A1A2E"/>
                </a:solidFill>
                <a:latin typeface="PingFang SC"/>
              </a:rPr>
              <a:t>·  活越堆越多，人反而更累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FF7A00"/>
                </a:solidFill>
                <a:latin typeface="PingFang SC"/>
              </a:rPr>
              <a:t>真正跑得稳的协作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514600"/>
            <a:ext cx="5239512" cy="3611880"/>
          </a:xfrm>
          <a:prstGeom prst="roundRect">
            <a:avLst>
              <a:gd name="adj" fmla="val 4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514600"/>
            <a:ext cx="54864" cy="36118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78892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210000"/>
              </a:lnSpc>
            </a:pPr>
            <a:r>
              <a:rPr sz="1500" b="1">
                <a:solidFill>
                  <a:srgbClr val="1A1A2E"/>
                </a:solidFill>
                <a:latin typeface="PingFang SC"/>
              </a:rPr>
              <a:t>·  AI 自己把活分轻重缓急</a:t>
            </a:r>
          </a:p>
          <a:p>
            <a:pPr algn="l">
              <a:lnSpc>
                <a:spcPct val="210000"/>
              </a:lnSpc>
            </a:pPr>
            <a:r>
              <a:rPr sz="1500" b="1">
                <a:solidFill>
                  <a:srgbClr val="1A1A2E"/>
                </a:solidFill>
                <a:latin typeface="PingFang SC"/>
              </a:rPr>
              <a:t>·  该你拍板的，主动推到你面前</a:t>
            </a:r>
          </a:p>
          <a:p>
            <a:pPr algn="l">
              <a:lnSpc>
                <a:spcPct val="210000"/>
              </a:lnSpc>
            </a:pPr>
            <a:r>
              <a:rPr sz="1500" b="1">
                <a:solidFill>
                  <a:srgbClr val="1A1A2E"/>
                </a:solidFill>
                <a:latin typeface="PingFang SC"/>
              </a:rPr>
              <a:t>·  所有活在一个界面看全 ——  不用满处找</a:t>
            </a:r>
          </a:p>
          <a:p>
            <a:pPr algn="l">
              <a:lnSpc>
                <a:spcPct val="210000"/>
              </a:lnSpc>
            </a:pPr>
            <a:r>
              <a:rPr sz="1500" b="1">
                <a:solidFill>
                  <a:srgbClr val="1A1A2E"/>
                </a:solidFill>
                <a:latin typeface="PingFang SC"/>
              </a:rPr>
              <a:t>·  你只在关键节点出手，AI 跑其余的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10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FF7A00"/>
                </a:solidFill>
                <a:latin typeface="PingFang SC"/>
              </a:rPr>
              <a:t>判 断 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 i="0">
                <a:solidFill>
                  <a:srgbClr val="1A1A2E"/>
                </a:solidFill>
                <a:latin typeface="PingFang SC"/>
              </a:rPr>
              <a:t>老板的工作也变了：从「管人」，到「抓那 20%」。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7A99"/>
                </a:solidFill>
                <a:latin typeface="PingFang SC"/>
              </a:rPr>
              <a:t>AI 跑 80% 没问题。但那 20%（判断、品味、在场），你得自己定清楚 ——  AI 才知道往哪跑。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83664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过去 10 年，老板花最多时间的事 ——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b="1" i="0">
                <a:solidFill>
                  <a:srgbClr val="1A1A2E"/>
                </a:solidFill>
                <a:latin typeface="PingFang SC"/>
              </a:rPr>
              <a:t>面试招人、留人、骂人、捧人。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57600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下一个 10 年，老板花最多时间的事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4400" b="1" i="0">
                <a:solidFill>
                  <a:srgbClr val="FF7A00"/>
                </a:solidFill>
                <a:latin typeface="PingFang SC"/>
              </a:rPr>
              <a:t>定标准   ·   配工位   ·   拍板。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A2E"/>
                </a:solidFill>
                <a:latin typeface="PingFang SC"/>
              </a:rPr>
              <a:t>你做的事，和管一群 AI 同事没区别。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区别只是 ——  AI 同事 7×24 在岗，不议价，按结果计费。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11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4572000"/>
            <a:ext cx="4873752" cy="228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FFFFF"/>
                </a:solidFill>
                <a:latin typeface="PingFang SC"/>
              </a:rPr>
              <a:t>PART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FFFFF"/>
                </a:solidFill>
                <a:latin typeface="PingFang SC"/>
              </a:rPr>
              <a:t>HOW  TO  USE 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972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6600" b="1" i="0">
                <a:solidFill>
                  <a:srgbClr val="FFFFFF"/>
                </a:solidFill>
                <a:latin typeface="PingFang SC"/>
              </a:rPr>
              <a:t>AI 干执行，你来把关。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FFFFF"/>
                </a:solidFill>
                <a:latin typeface="PingFang SC"/>
              </a:rPr>
              <a:t>这一部分，讲把活交给 AI 的 3 步：分活、定义、验收。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12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FF7A00"/>
                </a:solidFill>
                <a:latin typeface="PingFang SC"/>
              </a:rPr>
              <a:t>第 ① 步  ·  分 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 i="0">
                <a:solidFill>
                  <a:srgbClr val="1A1A2E"/>
                </a:solidFill>
                <a:latin typeface="PingFang SC"/>
              </a:rPr>
              <a:t>哪些是 AI 的执行，哪些是你的判断。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7A99"/>
                </a:solidFill>
                <a:latin typeface="PingFang SC"/>
              </a:rPr>
              <a:t>AI 早能把「执行」那部分干完。你要做的，是把「判断」那部分留住 ——  这才是你越来越值钱的地方。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83664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包括「写战略、品牌 slogan、定价、找人」——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1A1A2E"/>
                </a:solidFill>
                <a:latin typeface="PingFang SC"/>
              </a:rPr>
              <a:t>这些过去你以为「只能自己干」的活，AI 也能干 80%。你只用抓那 20%。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3694176" cy="324612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971800"/>
            <a:ext cx="54864" cy="324612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 i="0">
                <a:solidFill>
                  <a:srgbClr val="1659E5"/>
                </a:solidFill>
                <a:latin typeface="PingFang S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91256"/>
            <a:ext cx="26426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判断  +  品味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32369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1659E5"/>
                </a:solidFill>
                <a:latin typeface="PingFang SC"/>
              </a:rPr>
              <a:t>5 条路挑哪条，100 个版本选 1 个。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323697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1A1A2E"/>
                </a:solidFill>
                <a:latin typeface="PingFang SC"/>
              </a:rPr>
              <a:t>·  AI 把账算清、把选项列全
·  AI 一晚出 100 张视觉草图
·  挑哪个「对劲」 ——  你的活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971800"/>
            <a:ext cx="3694176" cy="3246120"/>
          </a:xfrm>
          <a:prstGeom prst="roundRect">
            <a:avLst>
              <a:gd name="adj" fmla="val 4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8" y="2971800"/>
            <a:ext cx="54864" cy="32461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31546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 i="0">
                <a:solidFill>
                  <a:srgbClr val="FF7A00"/>
                </a:solidFill>
                <a:latin typeface="PingFang S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3191256"/>
            <a:ext cx="26426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在场  +  关系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840480"/>
            <a:ext cx="32369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FF7A00"/>
                </a:solidFill>
                <a:latin typeface="PingFang SC"/>
              </a:rPr>
              <a:t>签大单那张桌子，必须你本人。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4526280"/>
            <a:ext cx="323697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1A1A2E"/>
                </a:solidFill>
                <a:latin typeface="PingFang SC"/>
              </a:rPr>
              <a:t>·  10 年攒下的客户信任，AI 兑不了
·  关键节点的眼神和停顿，排练不来
·  团队危机的那场谈话 ——  你的活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66176" y="2971800"/>
            <a:ext cx="3694176" cy="3246120"/>
          </a:xfrm>
          <a:prstGeom prst="roundRect">
            <a:avLst>
              <a:gd name="adj" fmla="val 4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66176" y="2971800"/>
            <a:ext cx="54864" cy="32461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94776" y="31546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 i="0">
                <a:solidFill>
                  <a:srgbClr val="00C28B"/>
                </a:solidFill>
                <a:latin typeface="PingFang SC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3191256"/>
            <a:ext cx="26426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手 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4776" y="3840480"/>
            <a:ext cx="32369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0C28B"/>
                </a:solidFill>
                <a:latin typeface="PingFang SC"/>
              </a:rPr>
              <a:t>几十年磨出的手感，AI 让它更稀缺。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4776" y="4526280"/>
            <a:ext cx="323697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1A1A2E"/>
                </a:solidFill>
                <a:latin typeface="PingFang SC"/>
              </a:rPr>
              <a:t>·  顶级寿司师傅、资深架构师
·  20 年品牌操盘手、老中医的脉感
·  AI 出得越多，挑得对越是真功夫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13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828800"/>
            <a:ext cx="109728" cy="3200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FF7A00"/>
                </a:solidFill>
                <a:latin typeface="PingFang SC"/>
              </a:rPr>
              <a:t>金 句  ·  可 截 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5200" b="1" i="0">
                <a:solidFill>
                  <a:srgbClr val="FFFFFF"/>
                </a:solidFill>
                <a:latin typeface="PingFang SC"/>
              </a:rPr>
              <a:t>机器越便宜，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5200" b="1" i="0">
                <a:solidFill>
                  <a:srgbClr val="FFFFFF"/>
                </a:solidFill>
                <a:latin typeface="PingFang SC"/>
              </a:rPr>
              <a:t>机器干不了的活，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0" b="1" i="0">
                <a:solidFill>
                  <a:srgbClr val="FF7A00"/>
                </a:solidFill>
                <a:latin typeface="PingFang SC"/>
              </a:rPr>
              <a:t>越贵。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188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PingFang SC"/>
              </a:rPr>
              <a:t>—— AI 干 80% 的执行，你的 20% 因此更值钱。判断、品味、在场、关系、手艺。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14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21240" y="502920"/>
            <a:ext cx="1828800" cy="329184"/>
          </a:xfrm>
          <a:prstGeom prst="roundRect">
            <a:avLst>
              <a:gd name="adj" fmla="val 40000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502920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方 法 卡  ·  可 截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F7A00"/>
                </a:solidFill>
                <a:latin typeface="PingFang SC"/>
              </a:rPr>
              <a:t>方 法 卡  ·  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4000" b="1" i="0">
                <a:solidFill>
                  <a:srgbClr val="1A1A2E"/>
                </a:solidFill>
                <a:latin typeface="PingFang SC"/>
              </a:rPr>
              <a:t>今天回去，做一件事。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659E5"/>
                </a:solidFill>
                <a:latin typeface="PingFang SC"/>
              </a:rPr>
              <a:t>列出你公司 5 个员工。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659E5"/>
                </a:solidFill>
                <a:latin typeface="PingFang SC"/>
              </a:rPr>
              <a:t>在每个人下面，挑这一周做的 5 件事。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659E5"/>
                </a:solidFill>
                <a:latin typeface="PingFang SC"/>
              </a:rPr>
              <a:t>每件事，拆成 80% + 20% ——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03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A2E"/>
                </a:solidFill>
                <a:latin typeface="PingFang SC"/>
              </a:rPr>
              <a:t>·  80%（罗列  /  调研  /  起草  /  执行）  → 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206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FF7A00"/>
                </a:solidFill>
                <a:latin typeface="PingFang SC"/>
              </a:rPr>
              <a:t>·  20%（拍板  /  挑选  /  在场）  →  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36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6B7A99"/>
                </a:solidFill>
                <a:latin typeface="PingFang SC"/>
              </a:rPr>
              <a:t>你那 20% 写不清楚的活，先别交给 AI。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349240"/>
            <a:ext cx="106070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349240"/>
            <a:ext cx="54864" cy="10515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440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6B7A99"/>
                </a:solidFill>
                <a:latin typeface="PingFang SC"/>
              </a:rPr>
              <a:t>范例  ·  销售小李 · 写客户跟进策略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806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AI 干 80%：拉客户历史、整理过往跟进、列 5 套打法。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F7A00"/>
                </a:solidFill>
                <a:latin typeface="PingFang SC"/>
              </a:rPr>
              <a:t>小李抓 20%：挑哪套打、哪句话发出去 ——  从「他一天搞不定」变成「AI 一晚跑完，他 1 小时定」。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15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FF7A00"/>
                </a:solidFill>
                <a:latin typeface="PingFang SC"/>
              </a:rPr>
              <a:t>第 ② 步  ·  定 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 i="0">
                <a:solidFill>
                  <a:srgbClr val="1A1A2E"/>
                </a:solidFill>
                <a:latin typeface="PingFang SC"/>
              </a:rPr>
              <a:t>把「什么算干对了」说清楚。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7A99"/>
                </a:solidFill>
                <a:latin typeface="PingFang SC"/>
              </a:rPr>
              <a:t>不是你去训 AI（那是我们的事）。你要做的是 ——  定义清楚什么叫「做对了」。这是 80% 的客户卡住的地方。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83664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91672" cy="146304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PingFang SC"/>
              </a:rPr>
              <a:t>我看过的客户里——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11887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PingFang SC"/>
              </a:rPr>
              <a:t>凡是开口给我 200 万字知识库的，大概率项目跑不通。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6B7A99"/>
                </a:solidFill>
                <a:latin typeface="PingFang SC"/>
              </a:rPr>
              <a:t>大家以为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3484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FD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434840"/>
            <a:ext cx="54864" cy="19202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1A1A2E"/>
                </a:solidFill>
                <a:latin typeface="PingFang SC"/>
              </a:rPr>
              <a:t>上 AI 第一步：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292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把公司所有文档塞进知识库。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23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7A99"/>
                </a:solidFill>
                <a:latin typeface="PingFang SC"/>
              </a:rPr>
              <a:t>结果：AI 答非所问。客户怪知识库。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6B7A99"/>
                </a:solidFill>
                <a:latin typeface="PingFang SC"/>
              </a:rPr>
              <a:t>其实该做的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43484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434840"/>
            <a:ext cx="54864" cy="192024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572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1A1A2E"/>
                </a:solidFill>
                <a:latin typeface="PingFang SC"/>
              </a:rPr>
              <a:t>整理 SOP：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50292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先画业务流程，再挑必要事实。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5623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7A99"/>
                </a:solidFill>
                <a:latin typeface="PingFang SC"/>
              </a:rPr>
              <a:t>AI 要的是流程，不是一堆文档。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16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微案例 ②  ·  在线教育头部品牌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客户甩 200 万字知识库  →  跑不通  →  改成整理 SOP  →  私域人效翻了 3 倍。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47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779776" cy="4114800"/>
          </a:xfrm>
          <a:prstGeom prst="roundRect">
            <a:avLst>
              <a:gd name="adj" fmla="val 4000"/>
            </a:avLst>
          </a:prstGeom>
          <a:solidFill>
            <a:srgbClr val="FD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54864" cy="4114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E53E3E"/>
                </a:solidFill>
                <a:latin typeface="PingFang SC"/>
              </a:rPr>
              <a:t>Day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32257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客户甩来 200 万字「知识库」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232257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PDF、Word、聊天记录、PRD、操作手册一锅端。
美其名「AI 训练数据」。
上 RAG 试，AI 答非所问。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194560"/>
            <a:ext cx="2779776" cy="411480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2194560"/>
            <a:ext cx="54864" cy="41148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331720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659E5"/>
                </a:solidFill>
                <a:latin typeface="PingFang SC"/>
              </a:rPr>
              <a:t>Week 1-2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743200"/>
            <a:ext cx="232257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诊断 ——  缺的不是事实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3840480"/>
            <a:ext cx="232257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翻完 200 万字发现 ——
90% 的内容没人会用到。
真正缺的是：业务流程没人讲得清。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2194560"/>
            <a:ext cx="2779776" cy="4114800"/>
          </a:xfrm>
          <a:prstGeom prst="roundRect">
            <a:avLst>
              <a:gd name="adj" fmla="val 4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5936" y="2194560"/>
            <a:ext cx="54864" cy="4114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4536" y="2331720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FF7A00"/>
                </a:solidFill>
                <a:latin typeface="PingFang SC"/>
              </a:rPr>
              <a:t>Week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2743200"/>
            <a:ext cx="232257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换方向 ——  整理 SOP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3840480"/>
            <a:ext cx="232257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不再压知识库。改成：
·  每个业务画清楚 SOP
·  挑出 SOP 里必须用到的事实
·  剩下的，全砍。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44584" y="2194560"/>
            <a:ext cx="2779776" cy="4114800"/>
          </a:xfrm>
          <a:prstGeom prst="roundRect">
            <a:avLst>
              <a:gd name="adj" fmla="val 4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44584" y="2194560"/>
            <a:ext cx="54864" cy="41148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73184" y="2331720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00C28B"/>
                </a:solidFill>
                <a:latin typeface="PingFang SC"/>
              </a:rPr>
              <a:t>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2743200"/>
            <a:ext cx="232257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AI 上线 · 见结果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3840480"/>
            <a:ext cx="232257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通过率：30% → 85%。
私域人效翻 3 倍，R 值 +50%。
客户：「要的不是 AI 训练，
  是把 SOP 想清楚。」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17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从 一 个 场 景 切 入  ·  别 铺 全 公 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别想着一上来就铺全公司。从一个场景，往下切。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贪多，3 个月跑不出结果。把一个场景跑通，比铺十个都强。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560320" cy="324612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4864" cy="3246120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6B7A99"/>
                </a:solidFill>
                <a:latin typeface="PingFang SC"/>
              </a:rPr>
              <a:t>全公司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太大，别从这开始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566160"/>
            <a:ext cx="2103120" cy="6350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2103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十个业务一起上 ——
铺太大，跑不动，
3 个月没结果。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3657600"/>
            <a:ext cx="2468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000" b="1" i="0">
                <a:solidFill>
                  <a:srgbClr val="6B7A99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2286000"/>
            <a:ext cx="2560320" cy="324612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2424" y="2286000"/>
            <a:ext cx="54864" cy="324612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5146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659E5"/>
                </a:solidFill>
                <a:latin typeface="PingFang SC"/>
              </a:rPr>
              <a:t>挑 1 个场景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30632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最痛的那个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21024" y="3566160"/>
            <a:ext cx="2103120" cy="635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3703320"/>
            <a:ext cx="2103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比如「售前咨询」——
客户最多、最重复、
最该先把人解放出来。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3657600"/>
            <a:ext cx="2468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000" b="1" i="0">
                <a:solidFill>
                  <a:srgbClr val="6B7A99"/>
                </a:solidFill>
                <a:latin typeface="PingFang S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2286000"/>
            <a:ext cx="2560320" cy="3246120"/>
          </a:xfrm>
          <a:prstGeom prst="roundRect">
            <a:avLst>
              <a:gd name="adj" fmla="val 4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2286000"/>
            <a:ext cx="54864" cy="32461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25146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FF7A00"/>
                </a:solidFill>
                <a:latin typeface="PingFang SC"/>
              </a:rPr>
              <a:t>把它细分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0632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拆成小场景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4808" y="3566160"/>
            <a:ext cx="2103120" cy="635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03320"/>
            <a:ext cx="2103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报价咨询 / 时间咨询 /
退费咨询 / 售后咨询 ——
一个一个来。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3657600"/>
            <a:ext cx="2468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000" b="1" i="0">
                <a:solidFill>
                  <a:srgbClr val="6B7A99"/>
                </a:solidFill>
                <a:latin typeface="PingFang S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9992" y="2286000"/>
            <a:ext cx="2560320" cy="3246120"/>
          </a:xfrm>
          <a:prstGeom prst="roundRect">
            <a:avLst>
              <a:gd name="adj" fmla="val 4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79992" y="2286000"/>
            <a:ext cx="54864" cy="32461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8592" y="25146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00C28B"/>
                </a:solidFill>
                <a:latin typeface="PingFang SC"/>
              </a:rPr>
              <a:t>抠 1 条 SOP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30632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跑通它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08592" y="3566160"/>
            <a:ext cx="2103120" cy="635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8592" y="3703320"/>
            <a:ext cx="2103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客户问 → 你判断 → AI 回。
什么情况转人工，
写死。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852160"/>
            <a:ext cx="11091672" cy="1905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989320"/>
            <a:ext cx="1188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跑通这一条，再切下一个 ——  比一口气铺满，快得多。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18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194560"/>
            <a:ext cx="109728" cy="25603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FF7A00"/>
                </a:solidFill>
                <a:latin typeface="PingFang SC"/>
              </a:rPr>
              <a:t>金 句  ·  可 截 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5400" b="1" i="0">
                <a:solidFill>
                  <a:srgbClr val="FFFFFF"/>
                </a:solidFill>
                <a:latin typeface="PingFang SC"/>
              </a:rPr>
              <a:t>别拿 200 万字，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972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0" b="1" i="0">
                <a:solidFill>
                  <a:srgbClr val="FF7A00"/>
                </a:solidFill>
                <a:latin typeface="PingFang SC"/>
              </a:rPr>
              <a:t>甩 锅 给 AI。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188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FFFFFF"/>
                </a:solidFill>
                <a:latin typeface="PingFang SC"/>
              </a:rPr>
              <a:t>—— 你没想清楚业务，把一堆文档全倒给它，指望它替你想。它替不了。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188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FFFFFF"/>
                </a:solidFill>
                <a:latin typeface="PingFang SC"/>
              </a:rPr>
              <a:t>先把流程想清楚 ——  AI 要的，从来不是更多文档。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19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21240" y="502920"/>
            <a:ext cx="1828800" cy="329184"/>
          </a:xfrm>
          <a:prstGeom prst="roundRect">
            <a:avLst>
              <a:gd name="adj" fmla="val 40000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502920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方 法 卡  ·  可 截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F7A00"/>
                </a:solidFill>
                <a:latin typeface="PingFang SC"/>
              </a:rPr>
              <a:t>方 法 卡  ·  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11887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600" b="1" i="0">
                <a:solidFill>
                  <a:srgbClr val="1A1A2E"/>
                </a:solidFill>
                <a:latin typeface="PingFang SC"/>
              </a:rPr>
              <a:t>给这个 AI 同事，先写一张「岗位说明书」。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跟雇人一样 ——  3 件事写清楚，再让它上岗。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94560"/>
            <a:ext cx="3611880" cy="320040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194560"/>
            <a:ext cx="54864" cy="32004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 i="0">
                <a:solidFill>
                  <a:srgbClr val="1659E5"/>
                </a:solidFill>
                <a:latin typeface="PingFang SC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774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它的活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每天具体干哪些事？
一句话能讲清的，列 3-5 条。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114800"/>
            <a:ext cx="3154680" cy="635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1659E5"/>
                </a:solidFill>
                <a:latin typeface="PingFang SC"/>
              </a:rPr>
              <a:t>范例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1">
                <a:solidFill>
                  <a:srgbClr val="6B7A99"/>
                </a:solidFill>
                <a:latin typeface="PingFang SC"/>
              </a:rPr>
              <a:t>例：① 回首次咨询  ② 报价  ③ 催单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7992" y="2194560"/>
            <a:ext cx="3611880" cy="3200400"/>
          </a:xfrm>
          <a:prstGeom prst="roundRect">
            <a:avLst>
              <a:gd name="adj" fmla="val 4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07992" y="2194560"/>
            <a:ext cx="54864" cy="3200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23317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 i="0">
                <a:solidFill>
                  <a:srgbClr val="FF7A00"/>
                </a:solidFill>
                <a:latin typeface="PingFang SC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23774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它的边界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92608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哪些事它绝对不能干？
什么情况必须停下来转人工？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36592" y="4114800"/>
            <a:ext cx="3154680" cy="635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420624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FF7A00"/>
                </a:solidFill>
                <a:latin typeface="PingFang SC"/>
              </a:rPr>
              <a:t>范例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448056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1">
                <a:solidFill>
                  <a:srgbClr val="6B7A99"/>
                </a:solidFill>
                <a:latin typeface="PingFang SC"/>
              </a:rPr>
              <a:t>例：投诉 / 退款 / 找老板 → 立刻升级；
涉及合同 / 价格弹性 → 转人工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38744" y="2194560"/>
            <a:ext cx="3611880" cy="3200400"/>
          </a:xfrm>
          <a:prstGeom prst="roundRect">
            <a:avLst>
              <a:gd name="adj" fmla="val 4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38744" y="2194560"/>
            <a:ext cx="54864" cy="32004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7344" y="23317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 i="0">
                <a:solidFill>
                  <a:srgbClr val="00C28B"/>
                </a:solidFill>
                <a:latin typeface="PingFang SC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5984" y="23774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它要的事实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292608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这套活跑通，要哪些事实？
挑这些就够。不要塞全公司文档。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67344" y="4114800"/>
            <a:ext cx="3154680" cy="635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7344" y="420624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00C28B"/>
                </a:solidFill>
                <a:latin typeface="PingFang SC"/>
              </a:rPr>
              <a:t>范例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448056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1">
                <a:solidFill>
                  <a:srgbClr val="6B7A99"/>
                </a:solidFill>
                <a:latin typeface="PingFang SC"/>
              </a:rPr>
              <a:t>例：当前课表 + 最新价格表 + 退费规则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577840"/>
            <a:ext cx="1060704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5577840"/>
            <a:ext cx="54864" cy="8686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669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6B7A99"/>
                </a:solidFill>
                <a:latin typeface="PingFang SC"/>
              </a:rPr>
              <a:t>写完这一张卡 ——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989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FF7A00"/>
                </a:solidFill>
                <a:latin typeface="PingFang SC"/>
              </a:rPr>
              <a:t>AI 同事第 3 天就能上岗。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60350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2E"/>
                </a:solidFill>
                <a:latin typeface="PingFang SC"/>
              </a:rPr>
              <a:t>原本一个新员工要 3 个月，靠的就是这张卡写得多干净。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20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FF7A00"/>
                </a:solidFill>
                <a:latin typeface="PingFang SC"/>
              </a:rPr>
              <a:t>第 ③ 步  ·  验 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 i="0">
                <a:solidFill>
                  <a:srgbClr val="1A1A2E"/>
                </a:solidFill>
                <a:latin typeface="PingFang SC"/>
              </a:rPr>
              <a:t>AI 干完，你说行不行。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7A99"/>
                </a:solidFill>
                <a:latin typeface="PingFang SC"/>
              </a:rPr>
              <a:t>你公司每个员工，都从「自己干」，升级成「验收 AI 干的」。这就是 AI 原生组织里，人的新位置。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83664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94176" cy="4160520"/>
          </a:xfrm>
          <a:prstGeom prst="roundRect">
            <a:avLst>
              <a:gd name="adj" fmla="val 4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54864" cy="41605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2369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b="1" i="0">
                <a:solidFill>
                  <a:srgbClr val="00C28B"/>
                </a:solidFill>
                <a:latin typeface="PingFang SC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看  +  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00C28B"/>
                </a:solidFill>
                <a:latin typeface="PingFang SC"/>
              </a:rPr>
              <a:t>AI 一晚出 100 版，你挑哪一版能用。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323697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1A1A2E"/>
                </a:solidFill>
                <a:latin typeface="PingFang SC"/>
              </a:rPr>
              <a:t>·  AI 每天跑出来的活，员工在协作工作台里能一眼看到
·  对劲的留下，不对劲的退回
·  AI 出得越多，「挑得对」越是真功夫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194560"/>
            <a:ext cx="3694176" cy="4160520"/>
          </a:xfrm>
          <a:prstGeom prst="roundRect">
            <a:avLst>
              <a:gd name="adj" fmla="val 4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2194560"/>
            <a:ext cx="54864" cy="41605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331720"/>
            <a:ext cx="32369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b="1" i="0">
                <a:solidFill>
                  <a:srgbClr val="00C28B"/>
                </a:solidFill>
                <a:latin typeface="PingFang SC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926080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改  +  反馈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429000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00C28B"/>
                </a:solidFill>
                <a:latin typeface="PingFang SC"/>
              </a:rPr>
              <a:t>AI 起的稿，员工改两笔。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977639"/>
            <a:ext cx="323697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1A1A2E"/>
                </a:solidFill>
                <a:latin typeface="PingFang SC"/>
              </a:rPr>
              <a:t>·  每改一次，AI 下次就更准
·  员工的判断变成 AI 的训练信号
·  「我改的笔」也是这个员工不可替代的资产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2194560"/>
            <a:ext cx="3694176" cy="4160520"/>
          </a:xfrm>
          <a:prstGeom prst="roundRect">
            <a:avLst>
              <a:gd name="adj" fmla="val 4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6176" y="2194560"/>
            <a:ext cx="54864" cy="41605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94776" y="2331720"/>
            <a:ext cx="32369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b="1" i="0">
                <a:solidFill>
                  <a:srgbClr val="00C28B"/>
                </a:solidFill>
                <a:latin typeface="PingFang SC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4776" y="2926080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接  +  拍板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4776" y="3429000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00C28B"/>
                </a:solidFill>
                <a:latin typeface="PingFang SC"/>
              </a:rPr>
              <a:t>关键时刻 AI 不能上，员工亲自下场。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4776" y="3977639"/>
            <a:ext cx="323697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1A1A2E"/>
                </a:solidFill>
                <a:latin typeface="PingFang SC"/>
              </a:rPr>
              <a:t>·  涉及钱 / 时间 / 客户关系，员工接管
·  大客户、危机、谈判 ——  在场和关系，AI 替不了
·  这是员工 10 年攒下的不可替代价值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21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微案例 ③  ·  某金融行业客户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AI 销售跑得很快，但月底发现 ——  给客户报错了利率。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47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86400" cy="4206240"/>
          </a:xfrm>
          <a:prstGeom prst="roundRect">
            <a:avLst>
              <a:gd name="adj" fmla="val 4000"/>
            </a:avLst>
          </a:prstGeom>
          <a:solidFill>
            <a:srgbClr val="FD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54864" cy="42062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E53E3E"/>
                </a:solidFill>
                <a:latin typeface="PingFang SC"/>
              </a:rPr>
              <a:t>事故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AI 销售给一批客户报了 4.5%。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A2E"/>
                </a:solidFill>
                <a:latin typeface="PingFang SC"/>
              </a:rPr>
              <a:t>实际产品上限是 3.8%。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6B7A99"/>
                </a:solidFill>
                <a:latin typeface="PingFang SC"/>
              </a:rPr>
              <a:t>怎么发生的？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客户提供的知识库里，有一份去年的旧产品说明，AI 检索到了，照着回。「在它眼里」两份没差别。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94560"/>
            <a:ext cx="5440680" cy="4206240"/>
          </a:xfrm>
          <a:prstGeom prst="roundRect">
            <a:avLst>
              <a:gd name="adj" fmla="val 4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194560"/>
            <a:ext cx="54864" cy="420624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00C28B"/>
                </a:solidFill>
                <a:latin typeface="PingFang SC"/>
              </a:rPr>
              <a:t>怎么修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A1A2E"/>
                </a:solidFill>
                <a:latin typeface="PingFang SC"/>
              </a:rPr>
              <a:t>加 AI 主管的「数字门」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7472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规则：凡涉及数字的话术，过一道规则库。
规则库每天和产品中台同步一次。
对不上 → 拦下来 → 让人工接管。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394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00C28B"/>
                </a:solidFill>
                <a:latin typeface="PingFang SC"/>
              </a:rPr>
              <a:t>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760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1A1A2E"/>
                </a:solidFill>
                <a:latin typeface="PingFang SC"/>
              </a:rPr>
              <a:t>数字类错误率  ·  千分之一以下。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22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21240" y="502920"/>
            <a:ext cx="1828800" cy="329184"/>
          </a:xfrm>
          <a:prstGeom prst="roundRect">
            <a:avLst>
              <a:gd name="adj" fmla="val 40000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502920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方 法 卡  ·  可 截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F7A00"/>
                </a:solidFill>
                <a:latin typeface="PingFang SC"/>
              </a:rPr>
              <a:t>方 法 卡  ·  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4000" b="1" i="0">
                <a:solidFill>
                  <a:srgbClr val="1A1A2E"/>
                </a:solidFill>
                <a:latin typeface="PingFang SC"/>
              </a:rPr>
              <a:t>给 AI 设 3 个「下班前检查」。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FF7A00"/>
                </a:solidFill>
                <a:latin typeface="PingFang SC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402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1A1A2E"/>
                </a:solidFill>
                <a:latin typeface="PingFang SC"/>
              </a:rPr>
              <a:t>该回的有没有都回了？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今天进来的咨询、留言、催单——一条都不能漏。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FF7A00"/>
                </a:solidFill>
                <a:latin typeface="PingFang SC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52044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1A1A2E"/>
                </a:solidFill>
                <a:latin typeface="PingFang SC"/>
              </a:rPr>
              <a:t>涉及钱 / 时间 / 承诺的话，有没有错？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023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凡是有数字、有日期、有「保证」的话，过一道规则库。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FF7A00"/>
                </a:solidFill>
                <a:latin typeface="PingFang S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8006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1A1A2E"/>
                </a:solidFill>
                <a:latin typeface="PingFang SC"/>
              </a:rPr>
              <a:t>客户骂人或要找老板的话，识别出来了吗？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303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凡是「投诉」「要退款」「让你们老板出来」——必须升级给人。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035040"/>
            <a:ext cx="10607040" cy="127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这 3 条做到位 ——  AI 跑出的活，至少 90% 你可以放心。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23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4572000"/>
            <a:ext cx="4873752" cy="228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FFFFF"/>
                </a:solidFill>
                <a:latin typeface="PingFang SC"/>
              </a:rPr>
              <a:t>PART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FFFFF"/>
                </a:solidFill>
                <a:latin typeface="PingFang SC"/>
              </a:rPr>
              <a:t>MANAGING  THE  NEW  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972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6600" b="1" i="0">
                <a:solidFill>
                  <a:srgbClr val="FFFFFF"/>
                </a:solidFill>
                <a:latin typeface="PingFang SC"/>
              </a:rPr>
              <a:t>AI 进来后，怎么管？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FFFFF"/>
                </a:solidFill>
                <a:latin typeface="PingFang SC"/>
              </a:rPr>
              <a:t>两件事：管「管 AI 的人」，和给「AI 员工」发薪。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24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组织怎么管 ①  ·  管「管 AI 的人」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不是每个员工，都升得成 AI 的主管。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怎么筛？我把它写成一个公式 ——  分数高的，才管得动 AI。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91672" cy="1051560"/>
          </a:xfrm>
          <a:prstGeom prst="roundRect">
            <a:avLst>
              <a:gd name="adj" fmla="val 6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1091672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700" b="1" i="0">
                <a:solidFill>
                  <a:srgbClr val="1659E5"/>
                </a:solidFill>
                <a:latin typeface="PingFang SC"/>
              </a:rPr>
              <a:t>个人价值  ＝ （关系 ＋ 手艺） × （判断 ＋ 品味 ＋ 在场）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2044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520440"/>
            <a:ext cx="54864" cy="2194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8B5CF6"/>
                </a:solidFill>
                <a:latin typeface="PingFang SC"/>
              </a:rPr>
              <a:t>关系 ＋ 手艺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8B5CF6"/>
                </a:solidFill>
                <a:latin typeface="PingFang SC"/>
              </a:rPr>
              <a:t>存量 ·  几年、几十年攒出来的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1772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老客户的信任、一门真功夫。
AI 替不了，也抢不走 ——  你不在场就兑不出来。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93192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4000" b="1" i="0">
                <a:solidFill>
                  <a:srgbClr val="6B7A99"/>
                </a:solidFill>
                <a:latin typeface="PingFang SC"/>
              </a:rPr>
              <a:t>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28232" y="352044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28232" y="3520440"/>
            <a:ext cx="54864" cy="21945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3657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FF7A00"/>
                </a:solidFill>
                <a:latin typeface="PingFang SC"/>
              </a:rPr>
              <a:t>判断 ＋ 品味 ＋ 在场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41605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F7A00"/>
                </a:solidFill>
                <a:latin typeface="PingFang SC"/>
              </a:rPr>
              <a:t>流量 ·  每次出场你能不能拿出来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461772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5 条路敢拍板、100 版挑得对、
关键时刻顶得住 ——  每一次都得现场拿出来。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897880"/>
            <a:ext cx="11091672" cy="1905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035040"/>
            <a:ext cx="1188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两边是乘法 ——  缺一边，分数就是 0。能管 AI 的，是这个公式分数最高的人。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25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组织怎么管 ②  ·  给「AI 员工」发薪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按账号  ·  按结果  ·  按算力。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这是我们的收费模式 ——  和你雇人的几种工资形式，其实一一对应。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94176" cy="420624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54864" cy="420624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1659E5"/>
                </a:solidFill>
                <a:latin typeface="PingFang SC"/>
              </a:rPr>
              <a:t>按 账 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6B7A99"/>
                </a:solidFill>
                <a:latin typeface="PingFang SC"/>
              </a:rPr>
              <a:t>给 AI 发月薪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323697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一个账号一年多少钱。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323697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·  工作量稳定、可预测
·  客服坐席、班主任、销售助理
·  适合：你能算清月度任务量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194560"/>
            <a:ext cx="3694176" cy="4206240"/>
          </a:xfrm>
          <a:prstGeom prst="roundRect">
            <a:avLst>
              <a:gd name="adj" fmla="val 4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2194560"/>
            <a:ext cx="54864" cy="420624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331720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7A00"/>
                </a:solidFill>
                <a:latin typeface="PingFang SC"/>
              </a:rPr>
              <a:t>按 结 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926080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6B7A99"/>
                </a:solidFill>
                <a:latin typeface="PingFang SC"/>
              </a:rPr>
              <a:t>给 AI 发提成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337560"/>
            <a:ext cx="323697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聊完一个客户，付一次钱。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977639"/>
            <a:ext cx="323697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·  线索初筛、客服结案、约访
·  按 AI 聊完的客户算 ——  不押成单
·  适合：你想按效果付，不付沉没成本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2194560"/>
            <a:ext cx="3694176" cy="4206240"/>
          </a:xfrm>
          <a:prstGeom prst="roundRect">
            <a:avLst>
              <a:gd name="adj" fmla="val 4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6176" y="2194560"/>
            <a:ext cx="54864" cy="420624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94776" y="2331720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00C28B"/>
                </a:solidFill>
                <a:latin typeface="PingFang SC"/>
              </a:rPr>
              <a:t>按 算 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4776" y="2926080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6B7A99"/>
                </a:solidFill>
                <a:latin typeface="PingFang SC"/>
              </a:rPr>
              <a:t>给 AI 加「脑力」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4776" y="3337560"/>
            <a:ext cx="323697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1A2E"/>
                </a:solidFill>
                <a:latin typeface="PingFang SC"/>
              </a:rPr>
              <a:t>要它更聪明时，加算力。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4776" y="3977639"/>
            <a:ext cx="323697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·  日常活，基础算力够用
·  遇到难题、要想得更深 → 加算力
·  适合：偶尔要 AI 啃硬骨头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26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微案例 ④  ·  某连锁品牌客服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8 个客服 + 1 万 2 条咨询/月  →  2 个客服 + AI  →  1.5× 处理量，月省 ¥5w。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47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779776" cy="4206240"/>
          </a:xfrm>
          <a:prstGeom prst="roundRect">
            <a:avLst>
              <a:gd name="adj" fmla="val 4000"/>
            </a:avLst>
          </a:prstGeom>
          <a:solidFill>
            <a:srgbClr val="FD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54864" cy="42062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3225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E53E3E"/>
                </a:solidFill>
                <a:latin typeface="PingFang SC"/>
              </a:rPr>
              <a:t>之前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8 个客服 / 每月 ¥6w 工资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处理 1.2 万条咨询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54880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高峰期漏回率 30%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2194560"/>
            <a:ext cx="2779776" cy="420624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288" y="2194560"/>
            <a:ext cx="54864" cy="420624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8" y="2331720"/>
            <a:ext cx="23225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659E5"/>
                </a:solidFill>
                <a:latin typeface="PingFang SC"/>
              </a:rPr>
              <a:t>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2926080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AI 工位 + 2 个客服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3840480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AI 先跑 90% 消息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4754880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人只做最后一公里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5936" y="2194560"/>
            <a:ext cx="2779776" cy="4206240"/>
          </a:xfrm>
          <a:prstGeom prst="roundRect">
            <a:avLst>
              <a:gd name="adj" fmla="val 4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5936" y="2194560"/>
            <a:ext cx="54864" cy="420624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2331720"/>
            <a:ext cx="23225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00C28B"/>
                </a:solidFill>
                <a:latin typeface="PingFang SC"/>
              </a:rPr>
              <a:t>现在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2926080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月成本 ¥1w（含 AI）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3840480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处理 1.8 万条咨询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4754880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漏回率 &lt; 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44584" y="2194560"/>
            <a:ext cx="2779776" cy="4206240"/>
          </a:xfrm>
          <a:prstGeom prst="roundRect">
            <a:avLst>
              <a:gd name="adj" fmla="val 4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44584" y="2194560"/>
            <a:ext cx="54864" cy="420624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3184" y="2331720"/>
            <a:ext cx="23225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7A00"/>
                </a:solidFill>
                <a:latin typeface="PingFang SC"/>
              </a:rPr>
              <a:t>ROI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2926080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省 ¥5w / 月 · 6 万/年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3184" y="3840480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多接 50% 业务量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184" y="4754880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2E"/>
                </a:solidFill>
                <a:latin typeface="PingFang SC"/>
              </a:rPr>
              <a:t>投入回收期：3 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27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4572000"/>
            <a:ext cx="4873752" cy="228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FFFFF"/>
                </a:solidFill>
                <a:latin typeface="PingFang SC"/>
              </a:rPr>
              <a:t>PART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FFFFF"/>
                </a:solidFill>
                <a:latin typeface="PingFang SC"/>
              </a:rPr>
              <a:t>HOW  WE  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972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6600" b="1" i="0">
                <a:solidFill>
                  <a:srgbClr val="FFFFFF"/>
                </a:solidFill>
                <a:latin typeface="PingFang SC"/>
              </a:rPr>
              <a:t>这些，我们能帮你。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FFFFF"/>
                </a:solidFill>
                <a:latin typeface="PingFang SC"/>
              </a:rPr>
              <a:t>判断你做。剩下的执行 ——  交给我们。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28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PART 4  ·  为 什 么 需 要 我 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判断你能做。但把它变成真能跑的 AI ——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执行那部分（搭建、训练、维护），90% 的公司，自己干不了。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1091672" cy="109728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4864" cy="1097280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8229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600" b="1" i="0">
                <a:solidFill>
                  <a:srgbClr val="6B7A99"/>
                </a:solidFill>
                <a:latin typeface="PingFang SC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6771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1" i="0">
                <a:solidFill>
                  <a:srgbClr val="1A1A2E"/>
                </a:solidFill>
                <a:latin typeface="PingFang SC"/>
              </a:rPr>
              <a:t>分活想清楚了，搭不出真能跑的 AI。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6148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7A99"/>
                </a:solidFill>
                <a:latin typeface="PingFang SC"/>
              </a:rPr>
              <a:t>判断好哪些交 AI 是一回事；把它在 11 个 IM 通道里稳定跑起来，是另一回事。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10128"/>
            <a:ext cx="11091672" cy="109728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54864" cy="1097280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47288"/>
            <a:ext cx="8229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600" b="1" i="0">
                <a:solidFill>
                  <a:srgbClr val="6B7A99"/>
                </a:solidFill>
                <a:latin typeface="PingFang SC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4747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1" i="0">
                <a:solidFill>
                  <a:srgbClr val="1A1A2E"/>
                </a:solidFill>
                <a:latin typeface="PingFang SC"/>
              </a:rPr>
              <a:t>定义好了 SOP，训不出不出错的 AI。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68496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7A99"/>
                </a:solidFill>
                <a:latin typeface="PingFang SC"/>
              </a:rPr>
              <a:t>你能说清「什么算对」；但让 AI 每次都做对、涉及钱和承诺不翻车 ——  要一整套质量保障。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91672" cy="109728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517136"/>
            <a:ext cx="54864" cy="1097280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54296"/>
            <a:ext cx="8229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600" b="1" i="0">
                <a:solidFill>
                  <a:srgbClr val="6B7A99"/>
                </a:solidFill>
                <a:latin typeface="PingFang SC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68172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1" i="0">
                <a:solidFill>
                  <a:srgbClr val="1A1A2E"/>
                </a:solidFill>
                <a:latin typeface="PingFang SC"/>
              </a:rPr>
              <a:t>想验收，但没有能管 AI 的工作台。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75504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7A99"/>
                </a:solidFill>
                <a:latin typeface="PingFang SC"/>
              </a:rPr>
              <a:t>员工要能看 AI、挑 AI、接管 AI ——  这个「人和 AI 协作的工作台」，自己搭不出来。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806440"/>
            <a:ext cx="11091672" cy="25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188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1A1A2E"/>
                </a:solidFill>
                <a:latin typeface="PingFang SC"/>
              </a:rPr>
              <a:t>判断（你做）  +  执行（我们做）——  市面上能一次全包的，只有我们。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29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我 们 能 帮 你  ·  最 省 心 的 方 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最后告诉你 ——  我们能怎么帮你。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讲完了这么多。如果你今天回去想试 ——  你不需要懂 AI，也不需要自己搭。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887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4000" b="1" i="0">
                <a:solidFill>
                  <a:srgbClr val="1A1A2E"/>
                </a:solidFill>
                <a:latin typeface="PingFang SC"/>
              </a:rPr>
              <a:t>你不用懂 AI。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1887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4000" b="1" i="0">
                <a:solidFill>
                  <a:srgbClr val="1A1A2E"/>
                </a:solidFill>
                <a:latin typeface="PingFang SC"/>
              </a:rPr>
              <a:t>你不用自己搭。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1887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4000" b="1" i="0">
                <a:solidFill>
                  <a:srgbClr val="FF7A00"/>
                </a:solidFill>
                <a:latin typeface="PingFang SC"/>
              </a:rPr>
              <a:t>你只用告诉我们 ——  你想要什么 AI 员工。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84632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4846320"/>
            <a:ext cx="54864" cy="13716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9377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659E5"/>
                </a:solidFill>
                <a:latin typeface="PingFang SC"/>
              </a:rPr>
              <a:t>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4924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告诉我们：
哪些活想给 AI。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34924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800" b="1" i="0">
                <a:solidFill>
                  <a:srgbClr val="6B7A99"/>
                </a:solidFill>
                <a:latin typeface="PingFang S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484632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4846320"/>
            <a:ext cx="54864" cy="13716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9377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FF7A00"/>
                </a:solidFill>
                <a:latin typeface="PingFang SC"/>
              </a:rPr>
              <a:t>我们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34924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产品基建 5 件套
+ FDE 团队，全包。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34924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800" b="1" i="0">
                <a:solidFill>
                  <a:srgbClr val="6B7A99"/>
                </a:solidFill>
                <a:latin typeface="PingFang S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484632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58200" y="4846320"/>
            <a:ext cx="54864" cy="13716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49377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00C28B"/>
                </a:solidFill>
                <a:latin typeface="PingFang SC"/>
              </a:rPr>
              <a:t>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34924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2E"/>
                </a:solidFill>
                <a:latin typeface="PingFang SC"/>
              </a:rPr>
              <a:t>AI 员工
按你要的样子上岗。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99632"/>
            <a:ext cx="1188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 i="0">
                <a:solidFill>
                  <a:srgbClr val="1659E5"/>
                </a:solidFill>
                <a:latin typeface="PingFang SC"/>
              </a:rPr>
              <a:t>跟雇人一样简单 ——  唯一区别是，TA 7×24 在岗、不议价、按结果计费。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30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我 们 怎 么 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你只管要结果。这些复杂的事，我们在背后做完。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5 个产品基建 + 1 支驻场团队。让 AI 真能在你公司里跑起来 ——  你感觉不到这套复杂。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212848" cy="315468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" cy="315468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1659E5"/>
                </a:solidFill>
                <a:latin typeface="PingFang SC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30552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协作界面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659E5"/>
                </a:solidFill>
                <a:latin typeface="PingFang SC"/>
              </a:rPr>
              <a:t>句子秒回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017520"/>
            <a:ext cx="1938528" cy="635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193852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1A1A2E"/>
                </a:solidFill>
                <a:latin typeface="PingFang SC"/>
              </a:rPr>
              <a:t>Agent 和人在 IM 工位上协作。
按 AI 多有把握来分活：人接审批，还是接干活，全自动跑。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25496" y="2011680"/>
            <a:ext cx="2212848" cy="3154680"/>
          </a:xfrm>
          <a:prstGeom prst="roundRect">
            <a:avLst>
              <a:gd name="adj" fmla="val 4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25496" y="2011680"/>
            <a:ext cx="54864" cy="31546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10312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FF7A00"/>
                </a:solidFill>
                <a:latin typeface="PingFang SC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2130552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Agent 大脑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260604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FF7A00"/>
                </a:solidFill>
                <a:latin typeface="PingFang SC"/>
              </a:rPr>
              <a:t>句子秒懂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62656" y="3017520"/>
            <a:ext cx="1938528" cy="635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62656" y="3108960"/>
            <a:ext cx="193852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1A1A2E"/>
                </a:solidFill>
                <a:latin typeface="PingFang SC"/>
              </a:rPr>
              <a:t>编排和决策中枢。
业务人员不写代码，自己搭 Agent。
知识工程、流程图都在这一层。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02352" y="2011680"/>
            <a:ext cx="2212848" cy="3154680"/>
          </a:xfrm>
          <a:prstGeom prst="roundRect">
            <a:avLst>
              <a:gd name="adj" fmla="val 4000"/>
            </a:avLst>
          </a:prstGeom>
          <a:solidFill>
            <a:srgbClr val="E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02352" y="2011680"/>
            <a:ext cx="54864" cy="315468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9512" y="210312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00C28B"/>
                </a:solidFill>
                <a:latin typeface="PingFang SC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96712" y="2130552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质量监控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260604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00C28B"/>
                </a:solidFill>
                <a:latin typeface="PingFang SC"/>
              </a:rPr>
              <a:t>句子守护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39512" y="3017520"/>
            <a:ext cx="1938528" cy="635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9512" y="3108960"/>
            <a:ext cx="193852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1A1A2E"/>
                </a:solidFill>
                <a:latin typeface="PingFang SC"/>
              </a:rPr>
              <a:t>盯着 AI 别犯错。
自动测试用例、通过率、bad case 自动归档、规则库守门。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79208" y="2011680"/>
            <a:ext cx="2212848" cy="3154680"/>
          </a:xfrm>
          <a:prstGeom prst="roundRect">
            <a:avLst>
              <a:gd name="adj" fmla="val 4000"/>
            </a:avLst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79208" y="2011680"/>
            <a:ext cx="54864" cy="3154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8" y="210312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8B5CF6"/>
                </a:solidFill>
                <a:latin typeface="PingFang SC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2130552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数据洞察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260604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8B5CF6"/>
                </a:solidFill>
                <a:latin typeface="PingFang SC"/>
              </a:rPr>
              <a:t>句子参谋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16368" y="3017520"/>
            <a:ext cx="1938528" cy="63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16368" y="3108960"/>
            <a:ext cx="193852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1A1A2E"/>
                </a:solidFill>
                <a:latin typeface="PingFang SC"/>
              </a:rPr>
              <a:t>看业务进展。
业务问题用自然语言问，秒级出图。哪里漏、谁没回，主动报警。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56064" y="2011680"/>
            <a:ext cx="2212848" cy="3154680"/>
          </a:xfrm>
          <a:prstGeom prst="roundRect">
            <a:avLst>
              <a:gd name="adj" fmla="val 4000"/>
            </a:avLst>
          </a:prstGeom>
          <a:solidFill>
            <a:srgbClr val="D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56064" y="2011680"/>
            <a:ext cx="54864" cy="3154680"/>
          </a:xfrm>
          <a:prstGeom prst="rect">
            <a:avLst/>
          </a:prstGeom>
          <a:solidFill>
            <a:srgbClr val="00A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3224" y="210312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00AFA5"/>
                </a:solidFill>
                <a:latin typeface="PingFang SC"/>
              </a:rPr>
              <a:t>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0424" y="2130552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基建兜底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93224" y="260604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00AFA5"/>
                </a:solidFill>
                <a:latin typeface="PingFang SC"/>
              </a:rPr>
              <a:t>句子智造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93224" y="3017520"/>
            <a:ext cx="1938528" cy="6350"/>
          </a:xfrm>
          <a:prstGeom prst="rect">
            <a:avLst/>
          </a:prstGeom>
          <a:solidFill>
            <a:srgbClr val="00A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93224" y="3108960"/>
            <a:ext cx="193852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1A1A2E"/>
                </a:solidFill>
                <a:latin typeface="PingFang SC"/>
              </a:rPr>
              <a:t>数字化基建欠账，我们来补。
数据打通、流程标准化、系统接口 ——  AI 才真能在你公司里跑。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276088"/>
            <a:ext cx="1109167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276088"/>
            <a:ext cx="109728" cy="8229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394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FF7A00"/>
                </a:solidFill>
                <a:latin typeface="PingFang SC"/>
              </a:rPr>
              <a:t>+ FDE 团队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3328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PingFang SC"/>
              </a:rPr>
              <a:t>Forward Deployed Engineer  ·  全程帮你把这套基建装进公司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544068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FFFFFF"/>
                </a:solidFill>
                <a:latin typeface="PingFang SC"/>
              </a:rPr>
              <a:t>工程师驻场，不交钥匙跑路 ——  我们叫这套打法「产品基建 + FDE」双轮。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31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F7A00"/>
                </a:solidFill>
                <a:latin typeface="PingFang SC"/>
              </a:rPr>
              <a:t>ONE  MORE  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1A1A2E"/>
                </a:solidFill>
                <a:latin typeface="PingFang SC"/>
              </a:rPr>
              <a:t>小公司这一代真正的红利，不是 AI 便宜。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是 AI 让小公司也用得起，大公司才请得起的人。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86400" cy="42062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54864" cy="4206240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6B7A99"/>
                </a:solidFill>
                <a:latin typeface="PingFang SC"/>
              </a:rPr>
              <a:t>过去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2E"/>
                </a:solidFill>
                <a:latin typeface="PingFang SC"/>
              </a:rPr>
              <a:t>你想干服务好客户这件事——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 i="0">
                <a:solidFill>
                  <a:srgbClr val="1A1A2E"/>
                </a:solidFill>
                <a:latin typeface="PingFang SC"/>
              </a:rPr>
              <a:t>请不起 100 个客服。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 i="0">
                <a:solidFill>
                  <a:srgbClr val="1A1A2E"/>
                </a:solidFill>
                <a:latin typeface="PingFang SC"/>
              </a:rPr>
              <a:t>请不起 50 个销售。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 i="0">
                <a:solidFill>
                  <a:srgbClr val="1A1A2E"/>
                </a:solidFill>
                <a:latin typeface="PingFang SC"/>
              </a:rPr>
              <a:t>请不起 24 小时的运营。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778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6B7A99"/>
                </a:solidFill>
                <a:latin typeface="PingFang SC"/>
              </a:rPr>
              <a:t>服务总是跟不上。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94560"/>
            <a:ext cx="5440680" cy="4206240"/>
          </a:xfrm>
          <a:prstGeom prst="roundRect">
            <a:avLst>
              <a:gd name="adj" fmla="val 4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194560"/>
            <a:ext cx="54864" cy="420624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331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7A00"/>
                </a:solidFill>
                <a:latin typeface="PingFang SC"/>
              </a:rPr>
              <a:t>现在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43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2E"/>
                </a:solidFill>
                <a:latin typeface="PingFang SC"/>
              </a:rPr>
              <a:t>同样这件事——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918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 i="0">
                <a:solidFill>
                  <a:srgbClr val="FF7A00"/>
                </a:solidFill>
                <a:latin typeface="PingFang SC"/>
              </a:rPr>
              <a:t>100 个 AI 客服。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9319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 i="0">
                <a:solidFill>
                  <a:srgbClr val="FF7A00"/>
                </a:solidFill>
                <a:latin typeface="PingFang SC"/>
              </a:rPr>
              <a:t>50 个 AI 销售。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720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 i="0">
                <a:solidFill>
                  <a:srgbClr val="FF7A00"/>
                </a:solidFill>
                <a:latin typeface="PingFang SC"/>
              </a:rPr>
              <a:t>24 小时的 AI 运营。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5778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A1A2E"/>
                </a:solidFill>
                <a:latin typeface="PingFang SC"/>
              </a:rPr>
              <a:t>+ 2 个真人监工。这才是「重新发明组织」。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32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4572000"/>
            <a:ext cx="4873752" cy="228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7A00"/>
                </a:solidFill>
                <a:latin typeface="PingFang SC"/>
              </a:rPr>
              <a:t>彩  蛋  ·  ONE  MORE 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4800" b="0" i="0">
                <a:solidFill>
                  <a:srgbClr val="FFFFFF"/>
                </a:solidFill>
                <a:latin typeface="PingFang SC"/>
              </a:rPr>
              <a:t>这个 PPT，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6800" b="1" i="0">
                <a:solidFill>
                  <a:srgbClr val="FFFFFF"/>
                </a:solidFill>
                <a:latin typeface="PingFang SC"/>
              </a:rPr>
              <a:t>其实是 AI 帮我做的。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PingFang SC"/>
              </a:rPr>
              <a:t>下面给你看一遍 ——  我打开我的 AI 工作台。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E8F0FF"/>
                </a:solidFill>
                <a:latin typeface="PingFang SC"/>
              </a:rPr>
              <a:t>（接下来 5 分钟  ·  现场 demo）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FF7A00"/>
                </a:solidFill>
                <a:latin typeface="PingFang SC"/>
              </a:rPr>
              <a:t>—— 包括这一页本身。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33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" cy="50292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FF7A00"/>
                </a:solidFill>
                <a:latin typeface="PingFang SC"/>
              </a:rPr>
              <a:t>—— 收 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FFFFFF"/>
                </a:solidFill>
                <a:latin typeface="PingFang SC"/>
              </a:rPr>
              <a:t>9 年前，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FFFFFF"/>
                </a:solidFill>
                <a:latin typeface="PingFang SC"/>
              </a:rPr>
              <a:t>我们打赌：消息是所有软件的入口。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E8F0FF"/>
                </a:solidFill>
                <a:latin typeface="PingFang SC"/>
              </a:rPr>
              <a:t>今天，我们在干的事 ——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4400" b="1" i="0">
                <a:solidFill>
                  <a:srgbClr val="FFFFFF"/>
                </a:solidFill>
                <a:latin typeface="PingFang SC"/>
              </a:rPr>
              <a:t>让每家公司，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11887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4400" b="1" i="0">
                <a:solidFill>
                  <a:srgbClr val="FFFFFF"/>
                </a:solidFill>
                <a:latin typeface="PingFang SC"/>
              </a:rPr>
              <a:t>都用得起大公司的人力。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11887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4400" b="1" i="0">
                <a:solidFill>
                  <a:srgbClr val="FF7A00"/>
                </a:solidFill>
                <a:latin typeface="PingFang SC"/>
              </a:rPr>
              <a:t>哪怕，你只有 10 个人。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34 /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7A00"/>
                </a:solidFill>
                <a:latin typeface="PingFang SC"/>
              </a:rPr>
              <a:t>Q  &amp; 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4400" b="1" i="0">
                <a:solidFill>
                  <a:srgbClr val="1A1A2E"/>
                </a:solidFill>
                <a:latin typeface="PingFang SC"/>
              </a:rPr>
              <a:t>接下来，听你们的问题。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A99"/>
                </a:solidFill>
                <a:latin typeface="PingFang SC"/>
              </a:rPr>
              <a:t>我自己准备的备弹 ——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9728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800" b="0">
                <a:solidFill>
                  <a:srgbClr val="1A1A2E"/>
                </a:solidFill>
                <a:latin typeface="PingFang SC"/>
              </a:rPr>
              <a:t>·  AI 会不会取代我？</a:t>
            </a:r>
          </a:p>
          <a:p>
            <a:pPr algn="l">
              <a:lnSpc>
                <a:spcPct val="170000"/>
              </a:lnSpc>
            </a:pPr>
            <a:r>
              <a:rPr sz="1800" b="0">
                <a:solidFill>
                  <a:srgbClr val="1A1A2E"/>
                </a:solidFill>
                <a:latin typeface="PingFang SC"/>
              </a:rPr>
              <a:t>·  我们公司这么小，用 AI 划算吗？</a:t>
            </a:r>
          </a:p>
          <a:p>
            <a:pPr algn="l">
              <a:lnSpc>
                <a:spcPct val="170000"/>
              </a:lnSpc>
            </a:pPr>
            <a:r>
              <a:rPr sz="1800" b="0">
                <a:solidFill>
                  <a:srgbClr val="1A1A2E"/>
                </a:solidFill>
                <a:latin typeface="PingFang SC"/>
              </a:rPr>
              <a:t>·  自己组团队开发，还是找 AI 公司合作？</a:t>
            </a:r>
          </a:p>
          <a:p>
            <a:pPr algn="l">
              <a:lnSpc>
                <a:spcPct val="170000"/>
              </a:lnSpc>
            </a:pPr>
            <a:r>
              <a:rPr sz="1800" b="0">
                <a:solidFill>
                  <a:srgbClr val="1A1A2E"/>
                </a:solidFill>
                <a:latin typeface="PingFang SC"/>
              </a:rPr>
              <a:t>·  AI 出了错，谁担责？</a:t>
            </a:r>
          </a:p>
          <a:p>
            <a:pPr algn="l">
              <a:lnSpc>
                <a:spcPct val="170000"/>
              </a:lnSpc>
            </a:pPr>
            <a:r>
              <a:rPr sz="1800" b="0">
                <a:solidFill>
                  <a:srgbClr val="1A1A2E"/>
                </a:solidFill>
                <a:latin typeface="PingFang SC"/>
              </a:rPr>
              <a:t>·  现在入场是不是已经晚了？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句子互动  ·  李佳芮  ·  得到分享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6B7A99"/>
                </a:solidFill>
                <a:latin typeface="PingFang SC"/>
              </a:rPr>
              <a:t>35 / 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5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FFFF"/>
                </a:solidFill>
                <a:latin typeface="PingFang SC"/>
              </a:rPr>
              <a:t>句子互动  ·  JuziBot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6858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7600" b="1" i="0">
                <a:solidFill>
                  <a:srgbClr val="FFFFFF"/>
                </a:solidFill>
                <a:latin typeface="PingFang SC"/>
              </a:rPr>
              <a:t>谢谢。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290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FFFFF"/>
                </a:solidFill>
                <a:latin typeface="PingFang SC"/>
              </a:rPr>
              <a:t>想给你公司「招」一批 AI 员工 ——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 i="0">
                <a:solidFill>
                  <a:srgbClr val="FF7A00"/>
                </a:solidFill>
                <a:latin typeface="PingFang SC"/>
              </a:rPr>
              <a:t>扫右边二维码，加我微信。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FFFFFF"/>
                </a:solidFill>
                <a:latin typeface="PingFang SC"/>
              </a:rPr>
              <a:t>李佳芮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8F0FF"/>
                </a:solidFill>
                <a:latin typeface="PingFang SC"/>
              </a:rPr>
              <a:t>句子互动  创始人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8F0FF"/>
                </a:solidFill>
                <a:latin typeface="PingFang SC"/>
              </a:rPr>
              <a:t>juzibot.com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84048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qr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691640"/>
            <a:ext cx="3108960" cy="3108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63840" y="53949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 i="0">
                <a:solidFill>
                  <a:srgbClr val="1A1A2E"/>
                </a:solidFill>
                <a:latin typeface="PingFang SC"/>
              </a:rPr>
              <a:t>微信  ·  扫码加我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6692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6B7A99"/>
                </a:solidFill>
                <a:latin typeface="PingFang SC"/>
              </a:rPr>
              <a:t>Lijiarui · 句子互动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